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rial" charset="1" panose="020B0604020202020204"/>
      <p:regular r:id="rId19"/>
    </p:embeddedFont>
    <p:embeddedFont>
      <p:font typeface="Arial Bold" charset="1" panose="020B0704020202020204"/>
      <p:regular r:id="rId20"/>
    </p:embeddedFont>
    <p:embeddedFont>
      <p:font typeface="TT Ramillas" charset="1" panose="020E0000080000020004"/>
      <p:regular r:id="rId21"/>
    </p:embeddedFont>
    <p:embeddedFont>
      <p:font typeface="TT Ramillas Bold" charset="1" panose="020E0000080000020004"/>
      <p:regular r:id="rId22"/>
    </p:embeddedFont>
    <p:embeddedFont>
      <p:font typeface="Merriweather Sans" charset="1" panose="00000000000000000000"/>
      <p:regular r:id="rId23"/>
    </p:embeddedFont>
    <p:embeddedFont>
      <p:font typeface="Canva Sans" charset="1" panose="020B05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svg" Type="http://schemas.openxmlformats.org/officeDocument/2006/relationships/image"/><Relationship Id="rId11" Target="../media/image33.png" Type="http://schemas.openxmlformats.org/officeDocument/2006/relationships/image"/><Relationship Id="rId12" Target="../media/image34.svg" Type="http://schemas.openxmlformats.org/officeDocument/2006/relationships/image"/><Relationship Id="rId13" Target="../media/image35.png" Type="http://schemas.openxmlformats.org/officeDocument/2006/relationships/image"/><Relationship Id="rId14" Target="../media/image36.svg" Type="http://schemas.openxmlformats.org/officeDocument/2006/relationships/image"/><Relationship Id="rId15" Target="../media/image37.png" Type="http://schemas.openxmlformats.org/officeDocument/2006/relationships/image"/><Relationship Id="rId16" Target="../media/image38.svg" Type="http://schemas.openxmlformats.org/officeDocument/2006/relationships/image"/><Relationship Id="rId17" Target="../media/image39.png" Type="http://schemas.openxmlformats.org/officeDocument/2006/relationships/image"/><Relationship Id="rId2" Target="../media/image24.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3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24.png" Type="http://schemas.openxmlformats.org/officeDocument/2006/relationships/image"/><Relationship Id="rId4" Target="../media/image4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24.pn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46.jpeg" Type="http://schemas.openxmlformats.org/officeDocument/2006/relationships/image"/><Relationship Id="rId4" Target="../media/image47.jpeg" Type="http://schemas.openxmlformats.org/officeDocument/2006/relationships/image"/><Relationship Id="rId5" Target="../media/image48.jpeg" Type="http://schemas.openxmlformats.org/officeDocument/2006/relationships/image"/><Relationship Id="rId6" Target="../media/image4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50.jpeg" Type="http://schemas.openxmlformats.org/officeDocument/2006/relationships/image"/><Relationship Id="rId4" Target="../media/image51.jpeg" Type="http://schemas.openxmlformats.org/officeDocument/2006/relationships/image"/><Relationship Id="rId5" Target="../media/image5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jpeg" Type="http://schemas.openxmlformats.org/officeDocument/2006/relationships/image"/><Relationship Id="rId3" Target="../media/image54.jpeg" Type="http://schemas.openxmlformats.org/officeDocument/2006/relationships/image"/><Relationship Id="rId4" Target="../media/image5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24.png" Type="http://schemas.openxmlformats.org/officeDocument/2006/relationships/image"/><Relationship Id="rId4" Target="../media/image57.jpeg" Type="http://schemas.openxmlformats.org/officeDocument/2006/relationships/image"/><Relationship Id="rId5" Target="../media/image5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24.png" Type="http://schemas.openxmlformats.org/officeDocument/2006/relationships/image"/><Relationship Id="rId4" Target="../media/image59.png" Type="http://schemas.openxmlformats.org/officeDocument/2006/relationships/image"/><Relationship Id="rId5" Target="../media/image60.png" Type="http://schemas.openxmlformats.org/officeDocument/2006/relationships/image"/><Relationship Id="rId6" Target="../media/image6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62.jpeg" Type="http://schemas.openxmlformats.org/officeDocument/2006/relationships/image"/><Relationship Id="rId4" Target="../media/VAHGbuKyAUA.mp4" Type="http://schemas.openxmlformats.org/officeDocument/2006/relationships/video"/><Relationship Id="rId5" Target="../media/VAHGbuKyAUA.mp4" Type="http://schemas.microsoft.com/office/2007/relationships/media"/></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6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solidFill>
              <a:srgbClr val="CFD8DB"/>
            </a:solidFill>
          </p:spPr>
        </p:sp>
      </p:grpSp>
      <p:grpSp>
        <p:nvGrpSpPr>
          <p:cNvPr name="Group 4" id="4"/>
          <p:cNvGrpSpPr/>
          <p:nvPr/>
        </p:nvGrpSpPr>
        <p:grpSpPr>
          <a:xfrm rot="0">
            <a:off x="14017323" y="0"/>
            <a:ext cx="4267200" cy="1838325"/>
            <a:chOff x="0" y="0"/>
            <a:chExt cx="5689600" cy="2451100"/>
          </a:xfrm>
        </p:grpSpPr>
        <p:sp>
          <p:nvSpPr>
            <p:cNvPr name="Freeform 5" id="5"/>
            <p:cNvSpPr/>
            <p:nvPr/>
          </p:nvSpPr>
          <p:spPr>
            <a:xfrm flipH="false" flipV="false" rot="0">
              <a:off x="0" y="0"/>
              <a:ext cx="5689600" cy="2451100"/>
            </a:xfrm>
            <a:custGeom>
              <a:avLst/>
              <a:gdLst/>
              <a:ahLst/>
              <a:cxnLst/>
              <a:rect r="r" b="b" t="t" l="l"/>
              <a:pathLst>
                <a:path h="2451100" w="5689600">
                  <a:moveTo>
                    <a:pt x="0" y="0"/>
                  </a:moveTo>
                  <a:lnTo>
                    <a:pt x="5689600" y="0"/>
                  </a:lnTo>
                  <a:lnTo>
                    <a:pt x="5689600" y="2451100"/>
                  </a:lnTo>
                  <a:lnTo>
                    <a:pt x="0" y="2451100"/>
                  </a:lnTo>
                  <a:lnTo>
                    <a:pt x="0" y="0"/>
                  </a:lnTo>
                  <a:close/>
                </a:path>
              </a:pathLst>
            </a:custGeom>
            <a:blipFill>
              <a:blip r:embed="rId2"/>
              <a:stretch>
                <a:fillRect l="-58" t="0" r="-58" b="0"/>
              </a:stretch>
            </a:blipFill>
          </p:spPr>
        </p:sp>
      </p:grpSp>
      <p:sp>
        <p:nvSpPr>
          <p:cNvPr name="Freeform 6" id="6"/>
          <p:cNvSpPr/>
          <p:nvPr/>
        </p:nvSpPr>
        <p:spPr>
          <a:xfrm flipH="false" flipV="false" rot="0">
            <a:off x="11899116" y="2842003"/>
            <a:ext cx="6389370" cy="1111253"/>
          </a:xfrm>
          <a:custGeom>
            <a:avLst/>
            <a:gdLst/>
            <a:ahLst/>
            <a:cxnLst/>
            <a:rect r="r" b="b" t="t" l="l"/>
            <a:pathLst>
              <a:path h="1111253" w="6389370">
                <a:moveTo>
                  <a:pt x="0" y="0"/>
                </a:moveTo>
                <a:lnTo>
                  <a:pt x="6389370" y="0"/>
                </a:lnTo>
                <a:lnTo>
                  <a:pt x="6389370" y="1111253"/>
                </a:lnTo>
                <a:lnTo>
                  <a:pt x="0" y="11112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360000">
            <a:off x="12022918" y="3272425"/>
            <a:ext cx="4454917" cy="191982"/>
          </a:xfrm>
          <a:prstGeom prst="rect">
            <a:avLst/>
          </a:prstGeom>
        </p:spPr>
        <p:txBody>
          <a:bodyPr anchor="t" rtlCol="false" tIns="0" lIns="0" bIns="0" rIns="0">
            <a:spAutoFit/>
          </a:bodyPr>
          <a:lstStyle/>
          <a:p>
            <a:pPr algn="l">
              <a:lnSpc>
                <a:spcPts val="1263"/>
              </a:lnSpc>
            </a:pPr>
            <a:r>
              <a:rPr lang="en-US" sz="2000" spc="-10">
                <a:solidFill>
                  <a:srgbClr val="FFFFFF"/>
                </a:solidFill>
                <a:latin typeface="Arial"/>
                <a:ea typeface="Arial"/>
                <a:cs typeface="Arial"/>
                <a:sym typeface="Arial"/>
              </a:rPr>
              <a:t>Java &amp; Web Application Development</a:t>
            </a:r>
          </a:p>
        </p:txBody>
      </p:sp>
      <p:sp>
        <p:nvSpPr>
          <p:cNvPr name="Freeform 8" id="8"/>
          <p:cNvSpPr/>
          <p:nvPr/>
        </p:nvSpPr>
        <p:spPr>
          <a:xfrm flipH="false" flipV="false" rot="0">
            <a:off x="9706813" y="5211775"/>
            <a:ext cx="2019300" cy="1739903"/>
          </a:xfrm>
          <a:custGeom>
            <a:avLst/>
            <a:gdLst/>
            <a:ahLst/>
            <a:cxnLst/>
            <a:rect r="r" b="b" t="t" l="l"/>
            <a:pathLst>
              <a:path h="1739903" w="2019300">
                <a:moveTo>
                  <a:pt x="0" y="0"/>
                </a:moveTo>
                <a:lnTo>
                  <a:pt x="2019300" y="0"/>
                </a:lnTo>
                <a:lnTo>
                  <a:pt x="2019300" y="1739903"/>
                </a:lnTo>
                <a:lnTo>
                  <a:pt x="0" y="17399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8814483" y="1953797"/>
            <a:ext cx="5328828" cy="832618"/>
            <a:chOff x="0" y="0"/>
            <a:chExt cx="7105104" cy="1110158"/>
          </a:xfrm>
        </p:grpSpPr>
        <p:sp>
          <p:nvSpPr>
            <p:cNvPr name="Freeform 10" id="10"/>
            <p:cNvSpPr/>
            <p:nvPr/>
          </p:nvSpPr>
          <p:spPr>
            <a:xfrm flipH="false" flipV="false" rot="0">
              <a:off x="0" y="0"/>
              <a:ext cx="7105142" cy="1110107"/>
            </a:xfrm>
            <a:custGeom>
              <a:avLst/>
              <a:gdLst/>
              <a:ahLst/>
              <a:cxnLst/>
              <a:rect r="r" b="b" t="t" l="l"/>
              <a:pathLst>
                <a:path h="1110107" w="7105142">
                  <a:moveTo>
                    <a:pt x="0" y="0"/>
                  </a:moveTo>
                  <a:lnTo>
                    <a:pt x="7105142" y="0"/>
                  </a:lnTo>
                  <a:lnTo>
                    <a:pt x="7105142" y="1110107"/>
                  </a:lnTo>
                  <a:lnTo>
                    <a:pt x="0" y="1110107"/>
                  </a:lnTo>
                  <a:lnTo>
                    <a:pt x="0" y="0"/>
                  </a:lnTo>
                  <a:close/>
                </a:path>
              </a:pathLst>
            </a:custGeom>
            <a:blipFill>
              <a:blip r:embed="rId7"/>
              <a:stretch>
                <a:fillRect l="0" t="-45" r="0" b="-49"/>
              </a:stretch>
            </a:blipFill>
          </p:spPr>
        </p:sp>
      </p:grpSp>
      <p:sp>
        <p:nvSpPr>
          <p:cNvPr name="Freeform 11" id="11"/>
          <p:cNvSpPr/>
          <p:nvPr/>
        </p:nvSpPr>
        <p:spPr>
          <a:xfrm flipH="false" flipV="false" rot="0">
            <a:off x="6230179" y="7347147"/>
            <a:ext cx="1706242" cy="1706880"/>
          </a:xfrm>
          <a:custGeom>
            <a:avLst/>
            <a:gdLst/>
            <a:ahLst/>
            <a:cxnLst/>
            <a:rect r="r" b="b" t="t" l="l"/>
            <a:pathLst>
              <a:path h="1706880" w="1706242">
                <a:moveTo>
                  <a:pt x="0" y="0"/>
                </a:moveTo>
                <a:lnTo>
                  <a:pt x="1706241" y="0"/>
                </a:lnTo>
                <a:lnTo>
                  <a:pt x="1706241" y="1706880"/>
                </a:lnTo>
                <a:lnTo>
                  <a:pt x="0" y="17068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126737" y="5286880"/>
            <a:ext cx="1596390" cy="1597028"/>
          </a:xfrm>
          <a:custGeom>
            <a:avLst/>
            <a:gdLst/>
            <a:ahLst/>
            <a:cxnLst/>
            <a:rect r="r" b="b" t="t" l="l"/>
            <a:pathLst>
              <a:path h="1597028" w="1596390">
                <a:moveTo>
                  <a:pt x="0" y="0"/>
                </a:moveTo>
                <a:lnTo>
                  <a:pt x="1596390" y="0"/>
                </a:lnTo>
                <a:lnTo>
                  <a:pt x="1596390" y="1597028"/>
                </a:lnTo>
                <a:lnTo>
                  <a:pt x="0" y="15970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8174793" y="5188639"/>
            <a:ext cx="834390" cy="1793872"/>
          </a:xfrm>
          <a:custGeom>
            <a:avLst/>
            <a:gdLst/>
            <a:ahLst/>
            <a:cxnLst/>
            <a:rect r="r" b="b" t="t" l="l"/>
            <a:pathLst>
              <a:path h="1793872" w="834390">
                <a:moveTo>
                  <a:pt x="0" y="0"/>
                </a:moveTo>
                <a:lnTo>
                  <a:pt x="834390" y="0"/>
                </a:lnTo>
                <a:lnTo>
                  <a:pt x="834390" y="1793872"/>
                </a:lnTo>
                <a:lnTo>
                  <a:pt x="0" y="17938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381438" y="7638479"/>
            <a:ext cx="2731132" cy="979170"/>
          </a:xfrm>
          <a:custGeom>
            <a:avLst/>
            <a:gdLst/>
            <a:ahLst/>
            <a:cxnLst/>
            <a:rect r="r" b="b" t="t" l="l"/>
            <a:pathLst>
              <a:path h="979170" w="2731132">
                <a:moveTo>
                  <a:pt x="0" y="0"/>
                </a:moveTo>
                <a:lnTo>
                  <a:pt x="2731132" y="0"/>
                </a:lnTo>
                <a:lnTo>
                  <a:pt x="2731132" y="979169"/>
                </a:lnTo>
                <a:lnTo>
                  <a:pt x="0" y="9791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11891353" y="3468053"/>
            <a:ext cx="998220" cy="6819262"/>
            <a:chOff x="0" y="0"/>
            <a:chExt cx="1330960" cy="9092349"/>
          </a:xfrm>
        </p:grpSpPr>
        <p:sp>
          <p:nvSpPr>
            <p:cNvPr name="Freeform 16" id="16"/>
            <p:cNvSpPr/>
            <p:nvPr/>
          </p:nvSpPr>
          <p:spPr>
            <a:xfrm flipH="false" flipV="false" rot="0">
              <a:off x="0" y="0"/>
              <a:ext cx="1330833" cy="9092184"/>
            </a:xfrm>
            <a:custGeom>
              <a:avLst/>
              <a:gdLst/>
              <a:ahLst/>
              <a:cxnLst/>
              <a:rect r="r" b="b" t="t" l="l"/>
              <a:pathLst>
                <a:path h="9092184" w="1330833">
                  <a:moveTo>
                    <a:pt x="1330833" y="9063609"/>
                  </a:moveTo>
                  <a:lnTo>
                    <a:pt x="240411" y="0"/>
                  </a:lnTo>
                  <a:lnTo>
                    <a:pt x="5080" y="28321"/>
                  </a:lnTo>
                  <a:lnTo>
                    <a:pt x="0" y="28956"/>
                  </a:lnTo>
                  <a:lnTo>
                    <a:pt x="1090295" y="9092184"/>
                  </a:lnTo>
                  <a:lnTo>
                    <a:pt x="1095375" y="9091549"/>
                  </a:lnTo>
                  <a:lnTo>
                    <a:pt x="1095375" y="9091802"/>
                  </a:lnTo>
                  <a:lnTo>
                    <a:pt x="1330706" y="9063482"/>
                  </a:lnTo>
                  <a:close/>
                </a:path>
              </a:pathLst>
            </a:custGeom>
            <a:solidFill>
              <a:srgbClr val="000000"/>
            </a:solidFill>
          </p:spPr>
        </p:sp>
      </p:grpSp>
      <p:sp>
        <p:nvSpPr>
          <p:cNvPr name="Freeform 17" id="17"/>
          <p:cNvSpPr/>
          <p:nvPr/>
        </p:nvSpPr>
        <p:spPr>
          <a:xfrm flipH="false" flipV="false" rot="0">
            <a:off x="11292811" y="7985798"/>
            <a:ext cx="555622" cy="626107"/>
          </a:xfrm>
          <a:custGeom>
            <a:avLst/>
            <a:gdLst/>
            <a:ahLst/>
            <a:cxnLst/>
            <a:rect r="r" b="b" t="t" l="l"/>
            <a:pathLst>
              <a:path h="626107" w="555622">
                <a:moveTo>
                  <a:pt x="0" y="0"/>
                </a:moveTo>
                <a:lnTo>
                  <a:pt x="555622" y="0"/>
                </a:lnTo>
                <a:lnTo>
                  <a:pt x="555622" y="626107"/>
                </a:lnTo>
                <a:lnTo>
                  <a:pt x="0" y="62610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18" id="18"/>
          <p:cNvGrpSpPr/>
          <p:nvPr/>
        </p:nvGrpSpPr>
        <p:grpSpPr>
          <a:xfrm rot="0">
            <a:off x="12730124" y="5119726"/>
            <a:ext cx="5557876" cy="3505200"/>
            <a:chOff x="0" y="0"/>
            <a:chExt cx="7410501" cy="4673600"/>
          </a:xfrm>
        </p:grpSpPr>
        <p:sp>
          <p:nvSpPr>
            <p:cNvPr name="Freeform 19" id="19"/>
            <p:cNvSpPr/>
            <p:nvPr/>
          </p:nvSpPr>
          <p:spPr>
            <a:xfrm flipH="false" flipV="false" rot="0">
              <a:off x="0" y="0"/>
              <a:ext cx="7410450" cy="4673600"/>
            </a:xfrm>
            <a:custGeom>
              <a:avLst/>
              <a:gdLst/>
              <a:ahLst/>
              <a:cxnLst/>
              <a:rect r="r" b="b" t="t" l="l"/>
              <a:pathLst>
                <a:path h="4673600" w="7410450">
                  <a:moveTo>
                    <a:pt x="0" y="0"/>
                  </a:moveTo>
                  <a:lnTo>
                    <a:pt x="7410450" y="0"/>
                  </a:lnTo>
                  <a:lnTo>
                    <a:pt x="7410450" y="4673600"/>
                  </a:lnTo>
                  <a:lnTo>
                    <a:pt x="0" y="4673600"/>
                  </a:lnTo>
                  <a:lnTo>
                    <a:pt x="0" y="0"/>
                  </a:lnTo>
                  <a:close/>
                </a:path>
              </a:pathLst>
            </a:custGeom>
            <a:blipFill>
              <a:blip r:embed="rId18"/>
              <a:stretch>
                <a:fillRect l="0" t="-34" r="0" b="-34"/>
              </a:stretch>
            </a:blipFill>
          </p:spPr>
        </p:sp>
      </p:grpSp>
      <p:sp>
        <p:nvSpPr>
          <p:cNvPr name="Freeform 20" id="20"/>
          <p:cNvSpPr/>
          <p:nvPr/>
        </p:nvSpPr>
        <p:spPr>
          <a:xfrm flipH="false" flipV="false" rot="0">
            <a:off x="11620271" y="9286885"/>
            <a:ext cx="971550" cy="971550"/>
          </a:xfrm>
          <a:custGeom>
            <a:avLst/>
            <a:gdLst/>
            <a:ahLst/>
            <a:cxnLst/>
            <a:rect r="r" b="b" t="t" l="l"/>
            <a:pathLst>
              <a:path h="971550" w="971550">
                <a:moveTo>
                  <a:pt x="0" y="0"/>
                </a:moveTo>
                <a:lnTo>
                  <a:pt x="971550" y="0"/>
                </a:lnTo>
                <a:lnTo>
                  <a:pt x="971550" y="971550"/>
                </a:lnTo>
                <a:lnTo>
                  <a:pt x="0" y="97155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21" id="21"/>
          <p:cNvGrpSpPr/>
          <p:nvPr/>
        </p:nvGrpSpPr>
        <p:grpSpPr>
          <a:xfrm rot="0">
            <a:off x="10344" y="3057573"/>
            <a:ext cx="11572875" cy="1791338"/>
            <a:chOff x="0" y="0"/>
            <a:chExt cx="15430500" cy="2388451"/>
          </a:xfrm>
        </p:grpSpPr>
        <p:sp>
          <p:nvSpPr>
            <p:cNvPr name="Freeform 22" id="22"/>
            <p:cNvSpPr/>
            <p:nvPr/>
          </p:nvSpPr>
          <p:spPr>
            <a:xfrm flipH="false" flipV="false" rot="0">
              <a:off x="0" y="0"/>
              <a:ext cx="15430500" cy="2388489"/>
            </a:xfrm>
            <a:custGeom>
              <a:avLst/>
              <a:gdLst/>
              <a:ahLst/>
              <a:cxnLst/>
              <a:rect r="r" b="b" t="t" l="l"/>
              <a:pathLst>
                <a:path h="2388489" w="15430500">
                  <a:moveTo>
                    <a:pt x="0" y="0"/>
                  </a:moveTo>
                  <a:lnTo>
                    <a:pt x="15430500" y="0"/>
                  </a:lnTo>
                  <a:lnTo>
                    <a:pt x="15430500" y="2388489"/>
                  </a:lnTo>
                  <a:lnTo>
                    <a:pt x="0" y="2388489"/>
                  </a:lnTo>
                  <a:close/>
                </a:path>
              </a:pathLst>
            </a:custGeom>
            <a:solidFill>
              <a:srgbClr val="FFFFFF"/>
            </a:solidFill>
          </p:spPr>
        </p:sp>
        <p:sp>
          <p:nvSpPr>
            <p:cNvPr name="TextBox 23" id="23"/>
            <p:cNvSpPr txBox="true"/>
            <p:nvPr/>
          </p:nvSpPr>
          <p:spPr>
            <a:xfrm>
              <a:off x="0" y="-38100"/>
              <a:ext cx="15430500" cy="2426551"/>
            </a:xfrm>
            <a:prstGeom prst="rect">
              <a:avLst/>
            </a:prstGeom>
          </p:spPr>
          <p:txBody>
            <a:bodyPr anchor="t" rtlCol="false" tIns="50800" lIns="50800" bIns="50800" rIns="50800"/>
            <a:lstStyle/>
            <a:p>
              <a:pPr algn="l">
                <a:lnSpc>
                  <a:spcPts val="10500"/>
                </a:lnSpc>
              </a:pPr>
              <a:r>
                <a:rPr lang="en-US" sz="8750" b="true">
                  <a:solidFill>
                    <a:srgbClr val="000000"/>
                  </a:solidFill>
                  <a:latin typeface="Arial Bold"/>
                  <a:ea typeface="Arial Bold"/>
                  <a:cs typeface="Arial Bold"/>
                  <a:sym typeface="Arial Bold"/>
                </a:rPr>
                <a:t>Development Phase</a:t>
              </a:r>
            </a:p>
          </p:txBody>
        </p:sp>
      </p:grpSp>
      <p:grpSp>
        <p:nvGrpSpPr>
          <p:cNvPr name="Group 24" id="24"/>
          <p:cNvGrpSpPr/>
          <p:nvPr/>
        </p:nvGrpSpPr>
        <p:grpSpPr>
          <a:xfrm rot="0">
            <a:off x="0" y="6961537"/>
            <a:ext cx="5904233" cy="951862"/>
            <a:chOff x="0" y="0"/>
            <a:chExt cx="7872311" cy="1269149"/>
          </a:xfrm>
        </p:grpSpPr>
        <p:sp>
          <p:nvSpPr>
            <p:cNvPr name="Freeform 25" id="25"/>
            <p:cNvSpPr/>
            <p:nvPr/>
          </p:nvSpPr>
          <p:spPr>
            <a:xfrm flipH="false" flipV="false" rot="0">
              <a:off x="0" y="0"/>
              <a:ext cx="7872349" cy="1269111"/>
            </a:xfrm>
            <a:custGeom>
              <a:avLst/>
              <a:gdLst/>
              <a:ahLst/>
              <a:cxnLst/>
              <a:rect r="r" b="b" t="t" l="l"/>
              <a:pathLst>
                <a:path h="1269111" w="7872349">
                  <a:moveTo>
                    <a:pt x="0" y="0"/>
                  </a:moveTo>
                  <a:lnTo>
                    <a:pt x="7872349" y="0"/>
                  </a:lnTo>
                  <a:lnTo>
                    <a:pt x="7872349" y="1269111"/>
                  </a:lnTo>
                  <a:lnTo>
                    <a:pt x="0" y="1269111"/>
                  </a:lnTo>
                  <a:close/>
                </a:path>
              </a:pathLst>
            </a:custGeom>
            <a:solidFill>
              <a:srgbClr val="000000"/>
            </a:solidFill>
          </p:spPr>
        </p:sp>
        <p:sp>
          <p:nvSpPr>
            <p:cNvPr name="TextBox 26" id="26"/>
            <p:cNvSpPr txBox="true"/>
            <p:nvPr/>
          </p:nvSpPr>
          <p:spPr>
            <a:xfrm>
              <a:off x="0" y="0"/>
              <a:ext cx="7872311" cy="1269149"/>
            </a:xfrm>
            <a:prstGeom prst="rect">
              <a:avLst/>
            </a:prstGeom>
          </p:spPr>
          <p:txBody>
            <a:bodyPr anchor="t" rtlCol="false" tIns="50800" lIns="50800" bIns="50800" rIns="50800"/>
            <a:lstStyle/>
            <a:p>
              <a:pPr algn="l">
                <a:lnSpc>
                  <a:spcPts val="3719"/>
                </a:lnSpc>
              </a:pPr>
              <a:r>
                <a:rPr lang="en-US" sz="3099" spc="-24">
                  <a:solidFill>
                    <a:srgbClr val="FFFFFF"/>
                  </a:solidFill>
                  <a:latin typeface="TT Ramillas"/>
                  <a:ea typeface="TT Ramillas"/>
                  <a:cs typeface="TT Ramillas"/>
                  <a:sym typeface="TT Ramillas"/>
                </a:rPr>
                <a:t>By </a:t>
              </a:r>
              <a:r>
                <a:rPr lang="en-US" b="true" sz="3099" spc="-24">
                  <a:solidFill>
                    <a:srgbClr val="FFFFFF"/>
                  </a:solidFill>
                  <a:latin typeface="TT Ramillas Bold"/>
                  <a:ea typeface="TT Ramillas Bold"/>
                  <a:cs typeface="TT Ramillas Bold"/>
                  <a:sym typeface="TT Ramillas Bold"/>
                </a:rPr>
                <a:t>Zubair	Khan</a:t>
              </a:r>
            </a:p>
          </p:txBody>
        </p:sp>
      </p:grpSp>
      <p:sp>
        <p:nvSpPr>
          <p:cNvPr name="TextBox 27" id="27"/>
          <p:cNvSpPr txBox="true"/>
          <p:nvPr/>
        </p:nvSpPr>
        <p:spPr>
          <a:xfrm rot="0">
            <a:off x="10344" y="1230640"/>
            <a:ext cx="3552825" cy="952500"/>
          </a:xfrm>
          <a:prstGeom prst="rect">
            <a:avLst/>
          </a:prstGeom>
        </p:spPr>
        <p:txBody>
          <a:bodyPr anchor="t" rtlCol="false" tIns="0" lIns="0" bIns="0" rIns="0">
            <a:spAutoFit/>
          </a:bodyPr>
          <a:lstStyle/>
          <a:p>
            <a:pPr algn="l">
              <a:lnSpc>
                <a:spcPts val="7320"/>
              </a:lnSpc>
            </a:pPr>
            <a:r>
              <a:rPr lang="en-US" sz="6100" b="true">
                <a:solidFill>
                  <a:srgbClr val="404037"/>
                </a:solidFill>
                <a:latin typeface="Arial Bold"/>
                <a:ea typeface="Arial Bold"/>
                <a:cs typeface="Arial Bold"/>
                <a:sym typeface="Arial Bold"/>
              </a:rPr>
              <a:t>Phase 2</a:t>
            </a:r>
          </a:p>
        </p:txBody>
      </p:sp>
      <p:grpSp>
        <p:nvGrpSpPr>
          <p:cNvPr name="Group 28" id="28"/>
          <p:cNvGrpSpPr/>
          <p:nvPr/>
        </p:nvGrpSpPr>
        <p:grpSpPr>
          <a:xfrm rot="0">
            <a:off x="0" y="7996428"/>
            <a:ext cx="4893307" cy="894712"/>
            <a:chOff x="0" y="0"/>
            <a:chExt cx="6524409" cy="1192949"/>
          </a:xfrm>
        </p:grpSpPr>
        <p:sp>
          <p:nvSpPr>
            <p:cNvPr name="Freeform 29" id="29"/>
            <p:cNvSpPr/>
            <p:nvPr/>
          </p:nvSpPr>
          <p:spPr>
            <a:xfrm flipH="false" flipV="false" rot="0">
              <a:off x="0" y="0"/>
              <a:ext cx="6524371" cy="1192911"/>
            </a:xfrm>
            <a:custGeom>
              <a:avLst/>
              <a:gdLst/>
              <a:ahLst/>
              <a:cxnLst/>
              <a:rect r="r" b="b" t="t" l="l"/>
              <a:pathLst>
                <a:path h="1192911" w="6524371">
                  <a:moveTo>
                    <a:pt x="0" y="0"/>
                  </a:moveTo>
                  <a:lnTo>
                    <a:pt x="6524371" y="0"/>
                  </a:lnTo>
                  <a:lnTo>
                    <a:pt x="6524371" y="1192911"/>
                  </a:lnTo>
                  <a:lnTo>
                    <a:pt x="0" y="1192911"/>
                  </a:lnTo>
                  <a:close/>
                </a:path>
              </a:pathLst>
            </a:custGeom>
            <a:solidFill>
              <a:srgbClr val="000000"/>
            </a:solidFill>
          </p:spPr>
        </p:sp>
        <p:sp>
          <p:nvSpPr>
            <p:cNvPr name="TextBox 30" id="30"/>
            <p:cNvSpPr txBox="true"/>
            <p:nvPr/>
          </p:nvSpPr>
          <p:spPr>
            <a:xfrm>
              <a:off x="0" y="-28575"/>
              <a:ext cx="6524409" cy="1221524"/>
            </a:xfrm>
            <a:prstGeom prst="rect">
              <a:avLst/>
            </a:prstGeom>
          </p:spPr>
          <p:txBody>
            <a:bodyPr anchor="t" rtlCol="false" tIns="50800" lIns="50800" bIns="50800" rIns="50800"/>
            <a:lstStyle/>
            <a:p>
              <a:pPr algn="l">
                <a:lnSpc>
                  <a:spcPts val="3840"/>
                </a:lnSpc>
              </a:pPr>
              <a:r>
                <a:rPr lang="en-US" sz="3200">
                  <a:solidFill>
                    <a:srgbClr val="FFFFFF"/>
                  </a:solidFill>
                  <a:latin typeface="Arial"/>
                  <a:ea typeface="Arial"/>
                  <a:cs typeface="Arial"/>
                  <a:sym typeface="Arial"/>
                </a:rPr>
                <a:t>Matriculation: 92127983</a:t>
              </a:r>
            </a:p>
          </p:txBody>
        </p:sp>
      </p:grpSp>
      <p:sp>
        <p:nvSpPr>
          <p:cNvPr name="TextBox 31" id="31"/>
          <p:cNvSpPr txBox="true"/>
          <p:nvPr/>
        </p:nvSpPr>
        <p:spPr>
          <a:xfrm rot="0">
            <a:off x="3727809" y="2046923"/>
            <a:ext cx="5004435" cy="573405"/>
          </a:xfrm>
          <a:prstGeom prst="rect">
            <a:avLst/>
          </a:prstGeom>
        </p:spPr>
        <p:txBody>
          <a:bodyPr anchor="t" rtlCol="false" tIns="0" lIns="0" bIns="0" rIns="0">
            <a:spAutoFit/>
          </a:bodyPr>
          <a:lstStyle/>
          <a:p>
            <a:pPr algn="l">
              <a:lnSpc>
                <a:spcPts val="4260"/>
              </a:lnSpc>
            </a:pPr>
            <a:r>
              <a:rPr lang="en-US" sz="3550" spc="-329">
                <a:solidFill>
                  <a:srgbClr val="000000"/>
                </a:solidFill>
                <a:latin typeface="Arial"/>
                <a:ea typeface="Arial"/>
                <a:cs typeface="Arial"/>
                <a:sym typeface="Arial"/>
              </a:rPr>
              <a:t>MERN Stack PROJECT:</a:t>
            </a:r>
          </a:p>
        </p:txBody>
      </p:sp>
      <p:sp>
        <p:nvSpPr>
          <p:cNvPr name="TextBox 32" id="32"/>
          <p:cNvSpPr txBox="true"/>
          <p:nvPr/>
        </p:nvSpPr>
        <p:spPr>
          <a:xfrm rot="0">
            <a:off x="8814483" y="2018567"/>
            <a:ext cx="5328923" cy="768353"/>
          </a:xfrm>
          <a:prstGeom prst="rect">
            <a:avLst/>
          </a:prstGeom>
        </p:spPr>
        <p:txBody>
          <a:bodyPr anchor="t" rtlCol="false" tIns="0" lIns="0" bIns="0" rIns="0">
            <a:spAutoFit/>
          </a:bodyPr>
          <a:lstStyle/>
          <a:p>
            <a:pPr algn="l">
              <a:lnSpc>
                <a:spcPts val="4680"/>
              </a:lnSpc>
            </a:pPr>
            <a:r>
              <a:rPr lang="en-US" sz="3900" spc="-254">
                <a:solidFill>
                  <a:srgbClr val="000000"/>
                </a:solidFill>
                <a:latin typeface="Arial"/>
                <a:ea typeface="Arial"/>
                <a:cs typeface="Arial"/>
                <a:sym typeface="Arial"/>
              </a:rPr>
              <a:t>Zerodha Trading APP</a:t>
            </a:r>
          </a:p>
        </p:txBody>
      </p:sp>
      <p:sp>
        <p:nvSpPr>
          <p:cNvPr name="TextBox 33" id="33"/>
          <p:cNvSpPr txBox="true"/>
          <p:nvPr/>
        </p:nvSpPr>
        <p:spPr>
          <a:xfrm rot="0">
            <a:off x="58379" y="9048083"/>
            <a:ext cx="11503657" cy="1090298"/>
          </a:xfrm>
          <a:prstGeom prst="rect">
            <a:avLst/>
          </a:prstGeom>
        </p:spPr>
        <p:txBody>
          <a:bodyPr anchor="t" rtlCol="false" tIns="0" lIns="0" bIns="0" rIns="0">
            <a:spAutoFit/>
          </a:bodyPr>
          <a:lstStyle/>
          <a:p>
            <a:pPr algn="l">
              <a:lnSpc>
                <a:spcPts val="2460"/>
              </a:lnSpc>
            </a:pPr>
            <a:r>
              <a:rPr lang="en-US" sz="2050" spc="0">
                <a:solidFill>
                  <a:srgbClr val="000000"/>
                </a:solidFill>
                <a:latin typeface="Merriweather Sans"/>
                <a:ea typeface="Merriweather Sans"/>
                <a:cs typeface="Merriweather Sans"/>
                <a:sym typeface="Merriweather Sans"/>
              </a:rPr>
              <a:t>BSC in Computer Science</a:t>
            </a:r>
          </a:p>
          <a:p>
            <a:pPr algn="l">
              <a:lnSpc>
                <a:spcPts val="3300"/>
              </a:lnSpc>
            </a:pPr>
          </a:p>
          <a:p>
            <a:pPr algn="l">
              <a:lnSpc>
                <a:spcPts val="3300"/>
              </a:lnSpc>
            </a:pPr>
            <a:r>
              <a:rPr lang="en-US" sz="2750" spc="-69">
                <a:solidFill>
                  <a:srgbClr val="000000"/>
                </a:solidFill>
                <a:latin typeface="Merriweather Sans"/>
                <a:ea typeface="Merriweather Sans"/>
                <a:cs typeface="Merriweather Sans"/>
                <a:sym typeface="Merriweather Sans"/>
              </a:rPr>
              <a:t>Github Repository: https://github.com/zbr-khn/Zerodha_IU_WebApp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35825" y="2581399"/>
            <a:ext cx="17075153" cy="3972919"/>
          </a:xfrm>
          <a:prstGeom prst="rect">
            <a:avLst/>
          </a:prstGeom>
        </p:spPr>
        <p:txBody>
          <a:bodyPr anchor="t" rtlCol="false" tIns="0" lIns="0" bIns="0" rIns="0">
            <a:spAutoFit/>
          </a:bodyPr>
          <a:lstStyle/>
          <a:p>
            <a:pPr algn="just">
              <a:lnSpc>
                <a:spcPts val="4740"/>
              </a:lnSpc>
            </a:pPr>
            <a:r>
              <a:rPr lang="en-US" sz="3950">
                <a:solidFill>
                  <a:srgbClr val="000000"/>
                </a:solidFill>
                <a:latin typeface="Arial"/>
                <a:ea typeface="Arial"/>
                <a:cs typeface="Arial"/>
                <a:sym typeface="Arial"/>
              </a:rPr>
              <a:t>The app is designed to give a responsive trading experience in real time,</a:t>
            </a:r>
          </a:p>
          <a:p>
            <a:pPr algn="just">
              <a:lnSpc>
                <a:spcPts val="9674"/>
              </a:lnSpc>
            </a:pPr>
            <a:r>
              <a:rPr lang="en-US" sz="3950">
                <a:solidFill>
                  <a:srgbClr val="000000"/>
                </a:solidFill>
                <a:latin typeface="Arial"/>
                <a:ea typeface="Arial"/>
                <a:cs typeface="Arial"/>
                <a:sym typeface="Arial"/>
              </a:rPr>
              <a:t>using the </a:t>
            </a:r>
            <a:r>
              <a:rPr lang="en-US" sz="3950" b="true">
                <a:solidFill>
                  <a:srgbClr val="000000"/>
                </a:solidFill>
                <a:latin typeface="Arial Bold"/>
                <a:ea typeface="Arial Bold"/>
                <a:cs typeface="Arial Bold"/>
                <a:sym typeface="Arial Bold"/>
              </a:rPr>
              <a:t>MERN stac</a:t>
            </a:r>
            <a:r>
              <a:rPr lang="en-US" sz="3950">
                <a:solidFill>
                  <a:srgbClr val="000000"/>
                </a:solidFill>
                <a:latin typeface="Arial"/>
                <a:ea typeface="Arial"/>
                <a:cs typeface="Arial"/>
                <a:sym typeface="Arial"/>
              </a:rPr>
              <a:t>k to simulate the environment of a professional online </a:t>
            </a:r>
            <a:r>
              <a:rPr lang="en-US" sz="3950" b="true">
                <a:solidFill>
                  <a:srgbClr val="000000"/>
                </a:solidFill>
                <a:latin typeface="Arial Bold"/>
                <a:ea typeface="Arial Bold"/>
                <a:cs typeface="Arial Bold"/>
                <a:sym typeface="Arial Bold"/>
              </a:rPr>
              <a:t>trader</a:t>
            </a:r>
            <a:r>
              <a:rPr lang="en-US" sz="3950">
                <a:solidFill>
                  <a:srgbClr val="000000"/>
                </a:solidFill>
                <a:latin typeface="Arial"/>
                <a:ea typeface="Arial"/>
                <a:cs typeface="Arial"/>
                <a:sym typeface="Arial"/>
              </a:rPr>
              <a:t>. It is ideal for anyone who wants to analyze the market, follow their </a:t>
            </a:r>
            <a:r>
              <a:rPr lang="en-US" sz="3950" b="true">
                <a:solidFill>
                  <a:srgbClr val="000000"/>
                </a:solidFill>
                <a:latin typeface="Arial Bold"/>
                <a:ea typeface="Arial Bold"/>
                <a:cs typeface="Arial Bold"/>
                <a:sym typeface="Arial Bold"/>
              </a:rPr>
              <a:t>investments </a:t>
            </a:r>
            <a:r>
              <a:rPr lang="en-US" sz="3950">
                <a:solidFill>
                  <a:srgbClr val="000000"/>
                </a:solidFill>
                <a:latin typeface="Arial"/>
                <a:ea typeface="Arial"/>
                <a:cs typeface="Arial"/>
                <a:sym typeface="Arial"/>
              </a:rPr>
              <a:t>and use a smooth and secure web-based </a:t>
            </a:r>
            <a:r>
              <a:rPr lang="en-US" sz="3950" b="true">
                <a:solidFill>
                  <a:srgbClr val="000000"/>
                </a:solidFill>
                <a:latin typeface="Arial Bold"/>
                <a:ea typeface="Arial Bold"/>
                <a:cs typeface="Arial Bold"/>
                <a:sym typeface="Arial Bold"/>
              </a:rPr>
              <a:t>trading platform</a:t>
            </a:r>
            <a:r>
              <a:rPr lang="en-US" sz="3950">
                <a:solidFill>
                  <a:srgbClr val="000000"/>
                </a:solidFill>
                <a:latin typeface="Arial"/>
                <a:ea typeface="Arial"/>
                <a:cs typeface="Arial"/>
                <a:sym typeface="Arial"/>
              </a:rPr>
              <a:t>.</a:t>
            </a:r>
          </a:p>
        </p:txBody>
      </p:sp>
      <p:grpSp>
        <p:nvGrpSpPr>
          <p:cNvPr name="Group 3" id="3"/>
          <p:cNvGrpSpPr/>
          <p:nvPr/>
        </p:nvGrpSpPr>
        <p:grpSpPr>
          <a:xfrm rot="0">
            <a:off x="4389853" y="543182"/>
            <a:ext cx="9121273" cy="1585884"/>
            <a:chOff x="0" y="0"/>
            <a:chExt cx="12161698" cy="2114512"/>
          </a:xfrm>
        </p:grpSpPr>
        <p:sp>
          <p:nvSpPr>
            <p:cNvPr name="Freeform 4" id="4"/>
            <p:cNvSpPr/>
            <p:nvPr/>
          </p:nvSpPr>
          <p:spPr>
            <a:xfrm flipH="false" flipV="false" rot="0">
              <a:off x="0" y="0"/>
              <a:ext cx="12161647" cy="2114550"/>
            </a:xfrm>
            <a:custGeom>
              <a:avLst/>
              <a:gdLst/>
              <a:ahLst/>
              <a:cxnLst/>
              <a:rect r="r" b="b" t="t" l="l"/>
              <a:pathLst>
                <a:path h="2114550" w="12161647">
                  <a:moveTo>
                    <a:pt x="0" y="0"/>
                  </a:moveTo>
                  <a:lnTo>
                    <a:pt x="12161647" y="0"/>
                  </a:lnTo>
                  <a:lnTo>
                    <a:pt x="12161647" y="2114550"/>
                  </a:lnTo>
                  <a:lnTo>
                    <a:pt x="0" y="2114550"/>
                  </a:lnTo>
                  <a:lnTo>
                    <a:pt x="0" y="0"/>
                  </a:lnTo>
                  <a:close/>
                </a:path>
              </a:pathLst>
            </a:custGeom>
            <a:blipFill>
              <a:blip r:embed="rId2"/>
              <a:stretch>
                <a:fillRect l="0" t="-6" r="0" b="-5"/>
              </a:stretch>
            </a:blipFill>
          </p:spPr>
        </p:sp>
      </p:grpSp>
      <p:sp>
        <p:nvSpPr>
          <p:cNvPr name="TextBox 5" id="5"/>
          <p:cNvSpPr txBox="true"/>
          <p:nvPr/>
        </p:nvSpPr>
        <p:spPr>
          <a:xfrm rot="0">
            <a:off x="4818726" y="780983"/>
            <a:ext cx="8092440" cy="1071248"/>
          </a:xfrm>
          <a:prstGeom prst="rect">
            <a:avLst/>
          </a:prstGeom>
        </p:spPr>
        <p:txBody>
          <a:bodyPr anchor="t" rtlCol="false" tIns="0" lIns="0" bIns="0" rIns="0">
            <a:spAutoFit/>
          </a:bodyPr>
          <a:lstStyle/>
          <a:p>
            <a:pPr algn="l">
              <a:lnSpc>
                <a:spcPts val="8100"/>
              </a:lnSpc>
            </a:pPr>
            <a:r>
              <a:rPr lang="en-US" sz="6750" spc="-405">
                <a:solidFill>
                  <a:srgbClr val="FFFFFF"/>
                </a:solidFill>
                <a:latin typeface="Arial"/>
                <a:ea typeface="Arial"/>
                <a:cs typeface="Arial"/>
                <a:sym typeface="Arial"/>
              </a:rPr>
              <a:t>Purpose of the App</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567125" y="126902"/>
            <a:ext cx="3599812" cy="1196978"/>
            <a:chOff x="0" y="0"/>
            <a:chExt cx="4799749" cy="1595971"/>
          </a:xfrm>
        </p:grpSpPr>
        <p:sp>
          <p:nvSpPr>
            <p:cNvPr name="Freeform 3" id="3"/>
            <p:cNvSpPr/>
            <p:nvPr/>
          </p:nvSpPr>
          <p:spPr>
            <a:xfrm flipH="false" flipV="false" rot="0">
              <a:off x="0" y="0"/>
              <a:ext cx="4799076" cy="1595501"/>
            </a:xfrm>
            <a:custGeom>
              <a:avLst/>
              <a:gdLst/>
              <a:ahLst/>
              <a:cxnLst/>
              <a:rect r="r" b="b" t="t" l="l"/>
              <a:pathLst>
                <a:path h="1595501" w="4799076">
                  <a:moveTo>
                    <a:pt x="4799076" y="1595501"/>
                  </a:moveTo>
                  <a:lnTo>
                    <a:pt x="0" y="1595501"/>
                  </a:lnTo>
                  <a:lnTo>
                    <a:pt x="0" y="0"/>
                  </a:lnTo>
                  <a:lnTo>
                    <a:pt x="4799076" y="0"/>
                  </a:lnTo>
                  <a:lnTo>
                    <a:pt x="4799076" y="1595501"/>
                  </a:lnTo>
                  <a:close/>
                </a:path>
              </a:pathLst>
            </a:custGeom>
            <a:solidFill>
              <a:srgbClr val="00EC64"/>
            </a:solidFill>
          </p:spPr>
        </p:sp>
      </p:grpSp>
      <p:grpSp>
        <p:nvGrpSpPr>
          <p:cNvPr name="Group 4" id="4"/>
          <p:cNvGrpSpPr/>
          <p:nvPr/>
        </p:nvGrpSpPr>
        <p:grpSpPr>
          <a:xfrm rot="0">
            <a:off x="130198" y="126902"/>
            <a:ext cx="5814812" cy="10160098"/>
            <a:chOff x="0" y="0"/>
            <a:chExt cx="7250862" cy="12669279"/>
          </a:xfrm>
        </p:grpSpPr>
        <p:sp>
          <p:nvSpPr>
            <p:cNvPr name="Freeform 5" id="5"/>
            <p:cNvSpPr/>
            <p:nvPr/>
          </p:nvSpPr>
          <p:spPr>
            <a:xfrm flipH="false" flipV="false" rot="0">
              <a:off x="0" y="0"/>
              <a:ext cx="7250811" cy="12669266"/>
            </a:xfrm>
            <a:custGeom>
              <a:avLst/>
              <a:gdLst/>
              <a:ahLst/>
              <a:cxnLst/>
              <a:rect r="r" b="b" t="t" l="l"/>
              <a:pathLst>
                <a:path h="12669266" w="7250811">
                  <a:moveTo>
                    <a:pt x="0" y="0"/>
                  </a:moveTo>
                  <a:lnTo>
                    <a:pt x="7250811" y="0"/>
                  </a:lnTo>
                  <a:lnTo>
                    <a:pt x="7250811" y="12669266"/>
                  </a:lnTo>
                  <a:lnTo>
                    <a:pt x="0" y="12669266"/>
                  </a:lnTo>
                  <a:lnTo>
                    <a:pt x="0" y="0"/>
                  </a:lnTo>
                  <a:close/>
                </a:path>
              </a:pathLst>
            </a:custGeom>
            <a:blipFill>
              <a:blip r:embed="rId2"/>
              <a:stretch>
                <a:fillRect l="-8206" t="0" r="-8206" b="0"/>
              </a:stretch>
            </a:blipFill>
          </p:spPr>
        </p:sp>
      </p:grpSp>
      <p:grpSp>
        <p:nvGrpSpPr>
          <p:cNvPr name="Group 6" id="6"/>
          <p:cNvGrpSpPr/>
          <p:nvPr/>
        </p:nvGrpSpPr>
        <p:grpSpPr>
          <a:xfrm rot="0">
            <a:off x="5787847" y="126902"/>
            <a:ext cx="7532999" cy="1196645"/>
            <a:chOff x="0" y="0"/>
            <a:chExt cx="10043998" cy="1595526"/>
          </a:xfrm>
        </p:grpSpPr>
        <p:sp>
          <p:nvSpPr>
            <p:cNvPr name="Freeform 7" id="7"/>
            <p:cNvSpPr/>
            <p:nvPr/>
          </p:nvSpPr>
          <p:spPr>
            <a:xfrm flipH="false" flipV="false" rot="0">
              <a:off x="0" y="0"/>
              <a:ext cx="10044049" cy="1595501"/>
            </a:xfrm>
            <a:custGeom>
              <a:avLst/>
              <a:gdLst/>
              <a:ahLst/>
              <a:cxnLst/>
              <a:rect r="r" b="b" t="t" l="l"/>
              <a:pathLst>
                <a:path h="1595501" w="10044049">
                  <a:moveTo>
                    <a:pt x="0" y="0"/>
                  </a:moveTo>
                  <a:lnTo>
                    <a:pt x="10044049" y="0"/>
                  </a:lnTo>
                  <a:lnTo>
                    <a:pt x="10044049" y="1595501"/>
                  </a:lnTo>
                  <a:lnTo>
                    <a:pt x="0" y="1595501"/>
                  </a:lnTo>
                  <a:lnTo>
                    <a:pt x="0" y="0"/>
                  </a:lnTo>
                  <a:close/>
                </a:path>
              </a:pathLst>
            </a:custGeom>
            <a:blipFill>
              <a:blip r:embed="rId3"/>
              <a:stretch>
                <a:fillRect l="-60" t="0" r="-60" b="-1"/>
              </a:stretch>
            </a:blipFill>
          </p:spPr>
        </p:sp>
      </p:grpSp>
      <p:grpSp>
        <p:nvGrpSpPr>
          <p:cNvPr name="Group 8" id="8"/>
          <p:cNvGrpSpPr/>
          <p:nvPr/>
        </p:nvGrpSpPr>
        <p:grpSpPr>
          <a:xfrm rot="0">
            <a:off x="15743015" y="8034233"/>
            <a:ext cx="2047875" cy="1917697"/>
            <a:chOff x="0" y="0"/>
            <a:chExt cx="2730500" cy="2556929"/>
          </a:xfrm>
        </p:grpSpPr>
        <p:sp>
          <p:nvSpPr>
            <p:cNvPr name="Freeform 9" id="9"/>
            <p:cNvSpPr/>
            <p:nvPr/>
          </p:nvSpPr>
          <p:spPr>
            <a:xfrm flipH="false" flipV="false" rot="0">
              <a:off x="0" y="0"/>
              <a:ext cx="2730500" cy="2556891"/>
            </a:xfrm>
            <a:custGeom>
              <a:avLst/>
              <a:gdLst/>
              <a:ahLst/>
              <a:cxnLst/>
              <a:rect r="r" b="b" t="t" l="l"/>
              <a:pathLst>
                <a:path h="2556891" w="2730500">
                  <a:moveTo>
                    <a:pt x="0" y="0"/>
                  </a:moveTo>
                  <a:lnTo>
                    <a:pt x="2730500" y="0"/>
                  </a:lnTo>
                  <a:lnTo>
                    <a:pt x="2730500" y="2556891"/>
                  </a:lnTo>
                  <a:lnTo>
                    <a:pt x="0" y="2556891"/>
                  </a:lnTo>
                  <a:lnTo>
                    <a:pt x="0" y="0"/>
                  </a:lnTo>
                  <a:close/>
                </a:path>
              </a:pathLst>
            </a:custGeom>
            <a:blipFill>
              <a:blip r:embed="rId4"/>
              <a:stretch>
                <a:fillRect l="0" t="-41" r="0" b="-43"/>
              </a:stretch>
            </a:blipFill>
          </p:spPr>
        </p:sp>
      </p:grpSp>
      <p:sp>
        <p:nvSpPr>
          <p:cNvPr name="TextBox 10" id="10"/>
          <p:cNvSpPr txBox="true"/>
          <p:nvPr/>
        </p:nvSpPr>
        <p:spPr>
          <a:xfrm rot="0">
            <a:off x="14841912" y="282978"/>
            <a:ext cx="3093720" cy="824227"/>
          </a:xfrm>
          <a:prstGeom prst="rect">
            <a:avLst/>
          </a:prstGeom>
        </p:spPr>
        <p:txBody>
          <a:bodyPr anchor="t" rtlCol="false" tIns="0" lIns="0" bIns="0" rIns="0">
            <a:spAutoFit/>
          </a:bodyPr>
          <a:lstStyle/>
          <a:p>
            <a:pPr algn="l">
              <a:lnSpc>
                <a:spcPts val="6240"/>
              </a:lnSpc>
            </a:pPr>
            <a:r>
              <a:rPr lang="en-US" sz="5200" spc="-179">
                <a:solidFill>
                  <a:srgbClr val="000000"/>
                </a:solidFill>
                <a:latin typeface="Arial"/>
                <a:ea typeface="Arial"/>
                <a:cs typeface="Arial"/>
                <a:sym typeface="Arial"/>
              </a:rPr>
              <a:t>C4 Model</a:t>
            </a:r>
          </a:p>
        </p:txBody>
      </p:sp>
      <p:sp>
        <p:nvSpPr>
          <p:cNvPr name="TextBox 11" id="11"/>
          <p:cNvSpPr txBox="true"/>
          <p:nvPr/>
        </p:nvSpPr>
        <p:spPr>
          <a:xfrm rot="0">
            <a:off x="6156265" y="282978"/>
            <a:ext cx="6986902" cy="824227"/>
          </a:xfrm>
          <a:prstGeom prst="rect">
            <a:avLst/>
          </a:prstGeom>
        </p:spPr>
        <p:txBody>
          <a:bodyPr anchor="t" rtlCol="false" tIns="0" lIns="0" bIns="0" rIns="0">
            <a:spAutoFit/>
          </a:bodyPr>
          <a:lstStyle/>
          <a:p>
            <a:pPr algn="l">
              <a:lnSpc>
                <a:spcPts val="6240"/>
              </a:lnSpc>
            </a:pPr>
            <a:r>
              <a:rPr lang="en-US" sz="5200" spc="-320">
                <a:solidFill>
                  <a:srgbClr val="000000"/>
                </a:solidFill>
                <a:latin typeface="Arial"/>
                <a:ea typeface="Arial"/>
                <a:cs typeface="Arial"/>
                <a:sym typeface="Arial"/>
              </a:rPr>
              <a:t>Architecture Diagram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65751" y="120853"/>
            <a:ext cx="10455278" cy="1330328"/>
            <a:chOff x="0" y="0"/>
            <a:chExt cx="13940371" cy="1773771"/>
          </a:xfrm>
        </p:grpSpPr>
        <p:sp>
          <p:nvSpPr>
            <p:cNvPr name="Freeform 3" id="3"/>
            <p:cNvSpPr/>
            <p:nvPr/>
          </p:nvSpPr>
          <p:spPr>
            <a:xfrm flipH="false" flipV="false" rot="0">
              <a:off x="0" y="0"/>
              <a:ext cx="13939774" cy="1773682"/>
            </a:xfrm>
            <a:custGeom>
              <a:avLst/>
              <a:gdLst/>
              <a:ahLst/>
              <a:cxnLst/>
              <a:rect r="r" b="b" t="t" l="l"/>
              <a:pathLst>
                <a:path h="1773682" w="13939774">
                  <a:moveTo>
                    <a:pt x="13939774" y="1773682"/>
                  </a:moveTo>
                  <a:lnTo>
                    <a:pt x="0" y="1773682"/>
                  </a:lnTo>
                  <a:lnTo>
                    <a:pt x="0" y="0"/>
                  </a:lnTo>
                  <a:lnTo>
                    <a:pt x="13939774" y="0"/>
                  </a:lnTo>
                  <a:lnTo>
                    <a:pt x="13939774" y="1773682"/>
                  </a:lnTo>
                  <a:close/>
                </a:path>
              </a:pathLst>
            </a:custGeom>
            <a:solidFill>
              <a:srgbClr val="00EC64"/>
            </a:solidFill>
          </p:spPr>
        </p:sp>
      </p:grpSp>
      <p:grpSp>
        <p:nvGrpSpPr>
          <p:cNvPr name="Group 4" id="4"/>
          <p:cNvGrpSpPr/>
          <p:nvPr/>
        </p:nvGrpSpPr>
        <p:grpSpPr>
          <a:xfrm rot="0">
            <a:off x="15776010" y="219742"/>
            <a:ext cx="2435743" cy="811368"/>
            <a:chOff x="0" y="0"/>
            <a:chExt cx="3247657" cy="1081824"/>
          </a:xfrm>
        </p:grpSpPr>
        <p:sp>
          <p:nvSpPr>
            <p:cNvPr name="Freeform 5" id="5"/>
            <p:cNvSpPr/>
            <p:nvPr/>
          </p:nvSpPr>
          <p:spPr>
            <a:xfrm flipH="false" flipV="false" rot="0">
              <a:off x="0" y="0"/>
              <a:ext cx="3247644" cy="1081786"/>
            </a:xfrm>
            <a:custGeom>
              <a:avLst/>
              <a:gdLst/>
              <a:ahLst/>
              <a:cxnLst/>
              <a:rect r="r" b="b" t="t" l="l"/>
              <a:pathLst>
                <a:path h="1081786" w="3247644">
                  <a:moveTo>
                    <a:pt x="0" y="0"/>
                  </a:moveTo>
                  <a:lnTo>
                    <a:pt x="3247644" y="0"/>
                  </a:lnTo>
                  <a:lnTo>
                    <a:pt x="3247644" y="1081786"/>
                  </a:lnTo>
                  <a:lnTo>
                    <a:pt x="0" y="1081786"/>
                  </a:lnTo>
                  <a:lnTo>
                    <a:pt x="0" y="0"/>
                  </a:lnTo>
                  <a:close/>
                </a:path>
              </a:pathLst>
            </a:custGeom>
            <a:blipFill>
              <a:blip r:embed="rId2"/>
              <a:stretch>
                <a:fillRect l="-139" t="0" r="-139" b="-3"/>
              </a:stretch>
            </a:blipFill>
          </p:spPr>
        </p:sp>
      </p:grpSp>
      <p:sp>
        <p:nvSpPr>
          <p:cNvPr name="Freeform 6" id="6"/>
          <p:cNvSpPr/>
          <p:nvPr/>
        </p:nvSpPr>
        <p:spPr>
          <a:xfrm flipH="false" flipV="false" rot="0">
            <a:off x="201016" y="1825828"/>
            <a:ext cx="2562225" cy="2209800"/>
          </a:xfrm>
          <a:custGeom>
            <a:avLst/>
            <a:gdLst/>
            <a:ahLst/>
            <a:cxnLst/>
            <a:rect r="r" b="b" t="t" l="l"/>
            <a:pathLst>
              <a:path h="2209800" w="2562225">
                <a:moveTo>
                  <a:pt x="0" y="0"/>
                </a:moveTo>
                <a:lnTo>
                  <a:pt x="2562225" y="0"/>
                </a:lnTo>
                <a:lnTo>
                  <a:pt x="2562225" y="2209800"/>
                </a:lnTo>
                <a:lnTo>
                  <a:pt x="0" y="2209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024567" y="1749514"/>
            <a:ext cx="2440943" cy="2730503"/>
          </a:xfrm>
          <a:custGeom>
            <a:avLst/>
            <a:gdLst/>
            <a:ahLst/>
            <a:cxnLst/>
            <a:rect r="r" b="b" t="t" l="l"/>
            <a:pathLst>
              <a:path h="2730503" w="2440943">
                <a:moveTo>
                  <a:pt x="0" y="0"/>
                </a:moveTo>
                <a:lnTo>
                  <a:pt x="2440943" y="0"/>
                </a:lnTo>
                <a:lnTo>
                  <a:pt x="2440943" y="2730503"/>
                </a:lnTo>
                <a:lnTo>
                  <a:pt x="0" y="27305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428726" y="1722930"/>
            <a:ext cx="1332233" cy="2933700"/>
          </a:xfrm>
          <a:custGeom>
            <a:avLst/>
            <a:gdLst/>
            <a:ahLst/>
            <a:cxnLst/>
            <a:rect r="r" b="b" t="t" l="l"/>
            <a:pathLst>
              <a:path h="2933700" w="1332233">
                <a:moveTo>
                  <a:pt x="0" y="0"/>
                </a:moveTo>
                <a:lnTo>
                  <a:pt x="1332233" y="0"/>
                </a:lnTo>
                <a:lnTo>
                  <a:pt x="1332233" y="2933700"/>
                </a:lnTo>
                <a:lnTo>
                  <a:pt x="0" y="29337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487507" y="1830905"/>
            <a:ext cx="2400938" cy="2571750"/>
          </a:xfrm>
          <a:custGeom>
            <a:avLst/>
            <a:gdLst/>
            <a:ahLst/>
            <a:cxnLst/>
            <a:rect r="r" b="b" t="t" l="l"/>
            <a:pathLst>
              <a:path h="2571750" w="2400938">
                <a:moveTo>
                  <a:pt x="0" y="0"/>
                </a:moveTo>
                <a:lnTo>
                  <a:pt x="2400938" y="0"/>
                </a:lnTo>
                <a:lnTo>
                  <a:pt x="2400938" y="2571750"/>
                </a:lnTo>
                <a:lnTo>
                  <a:pt x="0" y="257175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793691" y="388591"/>
            <a:ext cx="971550" cy="785498"/>
          </a:xfrm>
          <a:custGeom>
            <a:avLst/>
            <a:gdLst/>
            <a:ahLst/>
            <a:cxnLst/>
            <a:rect r="r" b="b" t="t" l="l"/>
            <a:pathLst>
              <a:path h="785498" w="971550">
                <a:moveTo>
                  <a:pt x="0" y="0"/>
                </a:moveTo>
                <a:lnTo>
                  <a:pt x="971550" y="0"/>
                </a:lnTo>
                <a:lnTo>
                  <a:pt x="971550" y="785499"/>
                </a:lnTo>
                <a:lnTo>
                  <a:pt x="0" y="78549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417814" y="255527"/>
            <a:ext cx="1059180" cy="1061723"/>
          </a:xfrm>
          <a:custGeom>
            <a:avLst/>
            <a:gdLst/>
            <a:ahLst/>
            <a:cxnLst/>
            <a:rect r="r" b="b" t="t" l="l"/>
            <a:pathLst>
              <a:path h="1061723" w="1059180">
                <a:moveTo>
                  <a:pt x="0" y="0"/>
                </a:moveTo>
                <a:lnTo>
                  <a:pt x="1059180" y="0"/>
                </a:lnTo>
                <a:lnTo>
                  <a:pt x="1059180" y="1061723"/>
                </a:lnTo>
                <a:lnTo>
                  <a:pt x="0" y="106172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6873002" y="1739875"/>
            <a:ext cx="2447925" cy="2438400"/>
          </a:xfrm>
          <a:custGeom>
            <a:avLst/>
            <a:gdLst/>
            <a:ahLst/>
            <a:cxnLst/>
            <a:rect r="r" b="b" t="t" l="l"/>
            <a:pathLst>
              <a:path h="2438400" w="2447925">
                <a:moveTo>
                  <a:pt x="0" y="0"/>
                </a:moveTo>
                <a:lnTo>
                  <a:pt x="2447925" y="0"/>
                </a:lnTo>
                <a:lnTo>
                  <a:pt x="2447925" y="2438400"/>
                </a:lnTo>
                <a:lnTo>
                  <a:pt x="0" y="24384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3" id="13"/>
          <p:cNvGrpSpPr/>
          <p:nvPr/>
        </p:nvGrpSpPr>
        <p:grpSpPr>
          <a:xfrm rot="0">
            <a:off x="3265751" y="1928089"/>
            <a:ext cx="2533650" cy="2581256"/>
            <a:chOff x="0" y="0"/>
            <a:chExt cx="3378200" cy="3441675"/>
          </a:xfrm>
        </p:grpSpPr>
        <p:sp>
          <p:nvSpPr>
            <p:cNvPr name="Freeform 14" id="14"/>
            <p:cNvSpPr/>
            <p:nvPr/>
          </p:nvSpPr>
          <p:spPr>
            <a:xfrm flipH="false" flipV="false" rot="0">
              <a:off x="0" y="0"/>
              <a:ext cx="3378200" cy="3441700"/>
            </a:xfrm>
            <a:custGeom>
              <a:avLst/>
              <a:gdLst/>
              <a:ahLst/>
              <a:cxnLst/>
              <a:rect r="r" b="b" t="t" l="l"/>
              <a:pathLst>
                <a:path h="3441700" w="3378200">
                  <a:moveTo>
                    <a:pt x="0" y="0"/>
                  </a:moveTo>
                  <a:lnTo>
                    <a:pt x="3378200" y="0"/>
                  </a:lnTo>
                  <a:lnTo>
                    <a:pt x="3378200" y="3441700"/>
                  </a:lnTo>
                  <a:lnTo>
                    <a:pt x="0" y="3441700"/>
                  </a:lnTo>
                  <a:lnTo>
                    <a:pt x="0" y="0"/>
                  </a:lnTo>
                  <a:close/>
                </a:path>
              </a:pathLst>
            </a:custGeom>
            <a:blipFill>
              <a:blip r:embed="rId17"/>
              <a:stretch>
                <a:fillRect l="0" t="-3" r="0" b="-3"/>
              </a:stretch>
            </a:blipFill>
          </p:spPr>
        </p:sp>
      </p:grpSp>
      <p:grpSp>
        <p:nvGrpSpPr>
          <p:cNvPr name="Group 15" id="15"/>
          <p:cNvGrpSpPr/>
          <p:nvPr/>
        </p:nvGrpSpPr>
        <p:grpSpPr>
          <a:xfrm rot="0">
            <a:off x="250641" y="4656630"/>
            <a:ext cx="7437521" cy="3748847"/>
            <a:chOff x="0" y="0"/>
            <a:chExt cx="1958853" cy="987351"/>
          </a:xfrm>
        </p:grpSpPr>
        <p:sp>
          <p:nvSpPr>
            <p:cNvPr name="Freeform 16" id="16"/>
            <p:cNvSpPr/>
            <p:nvPr/>
          </p:nvSpPr>
          <p:spPr>
            <a:xfrm flipH="false" flipV="false" rot="0">
              <a:off x="0" y="0"/>
              <a:ext cx="1958853" cy="987351"/>
            </a:xfrm>
            <a:custGeom>
              <a:avLst/>
              <a:gdLst/>
              <a:ahLst/>
              <a:cxnLst/>
              <a:rect r="r" b="b" t="t" l="l"/>
              <a:pathLst>
                <a:path h="987351" w="1958853">
                  <a:moveTo>
                    <a:pt x="0" y="0"/>
                  </a:moveTo>
                  <a:lnTo>
                    <a:pt x="1958853" y="0"/>
                  </a:lnTo>
                  <a:lnTo>
                    <a:pt x="1958853" y="987351"/>
                  </a:lnTo>
                  <a:lnTo>
                    <a:pt x="0" y="987351"/>
                  </a:lnTo>
                  <a:close/>
                </a:path>
              </a:pathLst>
            </a:custGeom>
            <a:solidFill>
              <a:srgbClr val="C1FF72"/>
            </a:solidFill>
          </p:spPr>
        </p:sp>
        <p:sp>
          <p:nvSpPr>
            <p:cNvPr name="TextBox 17" id="17"/>
            <p:cNvSpPr txBox="true"/>
            <p:nvPr/>
          </p:nvSpPr>
          <p:spPr>
            <a:xfrm>
              <a:off x="0" y="-57150"/>
              <a:ext cx="1958853" cy="1044501"/>
            </a:xfrm>
            <a:prstGeom prst="rect">
              <a:avLst/>
            </a:prstGeom>
          </p:spPr>
          <p:txBody>
            <a:bodyPr anchor="ctr" rtlCol="false" tIns="50800" lIns="50800" bIns="50800" rIns="50800"/>
            <a:lstStyle/>
            <a:p>
              <a:pPr algn="ctr">
                <a:lnSpc>
                  <a:spcPts val="2482"/>
                </a:lnSpc>
              </a:pPr>
            </a:p>
          </p:txBody>
        </p:sp>
      </p:grpSp>
      <p:sp>
        <p:nvSpPr>
          <p:cNvPr name="TextBox 18" id="18"/>
          <p:cNvSpPr txBox="true"/>
          <p:nvPr/>
        </p:nvSpPr>
        <p:spPr>
          <a:xfrm rot="0">
            <a:off x="3374736" y="60493"/>
            <a:ext cx="9658350" cy="1273178"/>
          </a:xfrm>
          <a:prstGeom prst="rect">
            <a:avLst/>
          </a:prstGeom>
        </p:spPr>
        <p:txBody>
          <a:bodyPr anchor="t" rtlCol="false" tIns="0" lIns="0" bIns="0" rIns="0">
            <a:spAutoFit/>
          </a:bodyPr>
          <a:lstStyle/>
          <a:p>
            <a:pPr algn="l">
              <a:lnSpc>
                <a:spcPts val="9540"/>
              </a:lnSpc>
            </a:pPr>
            <a:r>
              <a:rPr lang="en-US" sz="7950" spc="-520">
                <a:solidFill>
                  <a:srgbClr val="FFFFFF"/>
                </a:solidFill>
                <a:latin typeface="Arial"/>
                <a:ea typeface="Arial"/>
                <a:cs typeface="Arial"/>
                <a:sym typeface="Arial"/>
              </a:rPr>
              <a:t>Technology Used</a:t>
            </a:r>
          </a:p>
        </p:txBody>
      </p:sp>
      <p:grpSp>
        <p:nvGrpSpPr>
          <p:cNvPr name="Group 19" id="19"/>
          <p:cNvGrpSpPr/>
          <p:nvPr/>
        </p:nvGrpSpPr>
        <p:grpSpPr>
          <a:xfrm rot="0">
            <a:off x="8985567" y="8510252"/>
            <a:ext cx="9041732" cy="1442794"/>
            <a:chOff x="0" y="0"/>
            <a:chExt cx="2381361" cy="379995"/>
          </a:xfrm>
        </p:grpSpPr>
        <p:sp>
          <p:nvSpPr>
            <p:cNvPr name="Freeform 20" id="20"/>
            <p:cNvSpPr/>
            <p:nvPr/>
          </p:nvSpPr>
          <p:spPr>
            <a:xfrm flipH="false" flipV="false" rot="0">
              <a:off x="0" y="0"/>
              <a:ext cx="2381361" cy="379995"/>
            </a:xfrm>
            <a:custGeom>
              <a:avLst/>
              <a:gdLst/>
              <a:ahLst/>
              <a:cxnLst/>
              <a:rect r="r" b="b" t="t" l="l"/>
              <a:pathLst>
                <a:path h="379995" w="2381361">
                  <a:moveTo>
                    <a:pt x="0" y="0"/>
                  </a:moveTo>
                  <a:lnTo>
                    <a:pt x="2381361" y="0"/>
                  </a:lnTo>
                  <a:lnTo>
                    <a:pt x="2381361" y="379995"/>
                  </a:lnTo>
                  <a:lnTo>
                    <a:pt x="0" y="379995"/>
                  </a:lnTo>
                  <a:close/>
                </a:path>
              </a:pathLst>
            </a:custGeom>
            <a:gradFill rotWithShape="true">
              <a:gsLst>
                <a:gs pos="0">
                  <a:srgbClr val="FFF7AD">
                    <a:alpha val="100000"/>
                  </a:srgbClr>
                </a:gs>
                <a:gs pos="100000">
                  <a:srgbClr val="FFA9F9">
                    <a:alpha val="100000"/>
                  </a:srgbClr>
                </a:gs>
              </a:gsLst>
              <a:lin ang="0"/>
            </a:gradFill>
          </p:spPr>
        </p:sp>
        <p:sp>
          <p:nvSpPr>
            <p:cNvPr name="TextBox 21" id="21"/>
            <p:cNvSpPr txBox="true"/>
            <p:nvPr/>
          </p:nvSpPr>
          <p:spPr>
            <a:xfrm>
              <a:off x="0" y="-57150"/>
              <a:ext cx="2381361" cy="437145"/>
            </a:xfrm>
            <a:prstGeom prst="rect">
              <a:avLst/>
            </a:prstGeom>
          </p:spPr>
          <p:txBody>
            <a:bodyPr anchor="ctr" rtlCol="false" tIns="50800" lIns="50800" bIns="50800" rIns="50800"/>
            <a:lstStyle/>
            <a:p>
              <a:pPr algn="ctr">
                <a:lnSpc>
                  <a:spcPts val="2482"/>
                </a:lnSpc>
              </a:pPr>
            </a:p>
          </p:txBody>
        </p:sp>
      </p:grpSp>
      <p:sp>
        <p:nvSpPr>
          <p:cNvPr name="TextBox 22" id="22"/>
          <p:cNvSpPr txBox="true"/>
          <p:nvPr/>
        </p:nvSpPr>
        <p:spPr>
          <a:xfrm rot="0">
            <a:off x="9418963" y="8597689"/>
            <a:ext cx="7574918" cy="1034415"/>
          </a:xfrm>
          <a:prstGeom prst="rect">
            <a:avLst/>
          </a:prstGeom>
        </p:spPr>
        <p:txBody>
          <a:bodyPr anchor="t" rtlCol="false" tIns="0" lIns="0" bIns="0" rIns="0">
            <a:spAutoFit/>
          </a:bodyPr>
          <a:lstStyle/>
          <a:p>
            <a:pPr algn="l">
              <a:lnSpc>
                <a:spcPts val="2640"/>
              </a:lnSpc>
            </a:pPr>
            <a:r>
              <a:rPr lang="en-US" b="true" sz="2200" spc="-10">
                <a:solidFill>
                  <a:srgbClr val="000000"/>
                </a:solidFill>
                <a:latin typeface="Arial Bold"/>
                <a:ea typeface="Arial Bold"/>
                <a:cs typeface="Arial Bold"/>
                <a:sym typeface="Arial Bold"/>
              </a:rPr>
              <a:t>Dashboard:</a:t>
            </a:r>
          </a:p>
          <a:p>
            <a:pPr algn="l">
              <a:lnSpc>
                <a:spcPts val="2160"/>
              </a:lnSpc>
            </a:pPr>
            <a:r>
              <a:rPr lang="en-US" sz="1800" spc="-8">
                <a:solidFill>
                  <a:srgbClr val="000000"/>
                </a:solidFill>
                <a:latin typeface="Arial"/>
                <a:ea typeface="Arial"/>
                <a:cs typeface="Arial"/>
                <a:sym typeface="Arial"/>
              </a:rPr>
              <a:t>Enhanced with MUI, Chart.js, and React Chart components</a:t>
            </a:r>
          </a:p>
          <a:p>
            <a:pPr algn="l">
              <a:lnSpc>
                <a:spcPts val="2160"/>
              </a:lnSpc>
            </a:pPr>
            <a:r>
              <a:rPr lang="en-US" sz="1800" spc="-8">
                <a:solidFill>
                  <a:srgbClr val="000000"/>
                </a:solidFill>
                <a:latin typeface="Arial"/>
                <a:ea typeface="Arial"/>
                <a:cs typeface="Arial"/>
                <a:sym typeface="Arial"/>
              </a:rPr>
              <a:t>Custom insights with visual analytics for portfolios and trading metrics</a:t>
            </a:r>
          </a:p>
        </p:txBody>
      </p:sp>
      <p:sp>
        <p:nvSpPr>
          <p:cNvPr name="TextBox 23" id="23"/>
          <p:cNvSpPr txBox="true"/>
          <p:nvPr/>
        </p:nvSpPr>
        <p:spPr>
          <a:xfrm rot="0">
            <a:off x="417814" y="4688629"/>
            <a:ext cx="7047862" cy="4074157"/>
          </a:xfrm>
          <a:prstGeom prst="rect">
            <a:avLst/>
          </a:prstGeom>
        </p:spPr>
        <p:txBody>
          <a:bodyPr anchor="t" rtlCol="false" tIns="0" lIns="0" bIns="0" rIns="0">
            <a:spAutoFit/>
          </a:bodyPr>
          <a:lstStyle/>
          <a:p>
            <a:pPr algn="l">
              <a:lnSpc>
                <a:spcPts val="3479"/>
              </a:lnSpc>
            </a:pPr>
            <a:r>
              <a:rPr lang="en-US" b="true" sz="2900" spc="-10">
                <a:solidFill>
                  <a:srgbClr val="000000"/>
                </a:solidFill>
                <a:latin typeface="Arial Bold"/>
                <a:ea typeface="Arial Bold"/>
                <a:cs typeface="Arial Bold"/>
                <a:sym typeface="Arial Bold"/>
              </a:rPr>
              <a:t>Frontend</a:t>
            </a:r>
          </a:p>
          <a:p>
            <a:pPr algn="l">
              <a:lnSpc>
                <a:spcPts val="2774"/>
              </a:lnSpc>
            </a:pPr>
            <a:r>
              <a:rPr lang="en-US" sz="2000" spc="-6">
                <a:solidFill>
                  <a:srgbClr val="000000"/>
                </a:solidFill>
                <a:latin typeface="Arial"/>
                <a:ea typeface="Arial"/>
                <a:cs typeface="Arial"/>
                <a:sym typeface="Arial"/>
              </a:rPr>
              <a:t>React.js (v19.1.0) – Core library for building dynamic UIs React-Router-Dom (v7.5.3) – Handles client-side navigation Material UI &amp; Emotion – For styled components and UI icons Chart.js &amp; React-Chartjs-2 – Enables interactive visual data representation</a:t>
            </a:r>
          </a:p>
          <a:p>
            <a:pPr algn="l">
              <a:lnSpc>
                <a:spcPts val="2774"/>
              </a:lnSpc>
            </a:pPr>
            <a:r>
              <a:rPr lang="en-US" sz="2000" spc="-10">
                <a:solidFill>
                  <a:srgbClr val="000000"/>
                </a:solidFill>
                <a:latin typeface="Arial"/>
                <a:ea typeface="Arial"/>
                <a:cs typeface="Arial"/>
                <a:sym typeface="Arial"/>
              </a:rPr>
              <a:t>Axios (v1.6.7) – For API communication with backend services</a:t>
            </a:r>
          </a:p>
          <a:p>
            <a:pPr algn="l">
              <a:lnSpc>
                <a:spcPts val="2774"/>
              </a:lnSpc>
            </a:pPr>
            <a:r>
              <a:rPr lang="en-US" sz="2000" spc="-10">
                <a:solidFill>
                  <a:srgbClr val="000000"/>
                </a:solidFill>
                <a:latin typeface="Arial"/>
                <a:ea typeface="Arial"/>
                <a:cs typeface="Arial"/>
                <a:sym typeface="Arial"/>
              </a:rPr>
              <a:t>Web-Vitals – Measures and tracks app performance Testing Libraries – Integrated with Jest-DOM, User-Event, and React Testing Library for robust frontend testing</a:t>
            </a:r>
          </a:p>
        </p:txBody>
      </p:sp>
      <p:grpSp>
        <p:nvGrpSpPr>
          <p:cNvPr name="Group 24" id="24"/>
          <p:cNvGrpSpPr/>
          <p:nvPr/>
        </p:nvGrpSpPr>
        <p:grpSpPr>
          <a:xfrm rot="0">
            <a:off x="8985567" y="4762261"/>
            <a:ext cx="9041732" cy="3347794"/>
            <a:chOff x="0" y="0"/>
            <a:chExt cx="2381361" cy="881724"/>
          </a:xfrm>
        </p:grpSpPr>
        <p:sp>
          <p:nvSpPr>
            <p:cNvPr name="Freeform 25" id="25"/>
            <p:cNvSpPr/>
            <p:nvPr/>
          </p:nvSpPr>
          <p:spPr>
            <a:xfrm flipH="false" flipV="false" rot="0">
              <a:off x="0" y="0"/>
              <a:ext cx="2381361" cy="881724"/>
            </a:xfrm>
            <a:custGeom>
              <a:avLst/>
              <a:gdLst/>
              <a:ahLst/>
              <a:cxnLst/>
              <a:rect r="r" b="b" t="t" l="l"/>
              <a:pathLst>
                <a:path h="881724" w="2381361">
                  <a:moveTo>
                    <a:pt x="0" y="0"/>
                  </a:moveTo>
                  <a:lnTo>
                    <a:pt x="2381361" y="0"/>
                  </a:lnTo>
                  <a:lnTo>
                    <a:pt x="2381361" y="881724"/>
                  </a:lnTo>
                  <a:lnTo>
                    <a:pt x="0" y="881724"/>
                  </a:lnTo>
                  <a:close/>
                </a:path>
              </a:pathLst>
            </a:custGeom>
            <a:solidFill>
              <a:srgbClr val="FFDE59"/>
            </a:solidFill>
          </p:spPr>
        </p:sp>
        <p:sp>
          <p:nvSpPr>
            <p:cNvPr name="TextBox 26" id="26"/>
            <p:cNvSpPr txBox="true"/>
            <p:nvPr/>
          </p:nvSpPr>
          <p:spPr>
            <a:xfrm>
              <a:off x="0" y="-57150"/>
              <a:ext cx="2381361" cy="938874"/>
            </a:xfrm>
            <a:prstGeom prst="rect">
              <a:avLst/>
            </a:prstGeom>
          </p:spPr>
          <p:txBody>
            <a:bodyPr anchor="ctr" rtlCol="false" tIns="50800" lIns="50800" bIns="50800" rIns="50800"/>
            <a:lstStyle/>
            <a:p>
              <a:pPr algn="ctr">
                <a:lnSpc>
                  <a:spcPts val="2482"/>
                </a:lnSpc>
              </a:pPr>
            </a:p>
          </p:txBody>
        </p:sp>
      </p:grpSp>
      <p:sp>
        <p:nvSpPr>
          <p:cNvPr name="TextBox 27" id="27"/>
          <p:cNvSpPr txBox="true"/>
          <p:nvPr/>
        </p:nvSpPr>
        <p:spPr>
          <a:xfrm rot="0">
            <a:off x="9316583" y="4848842"/>
            <a:ext cx="8571862" cy="3556635"/>
          </a:xfrm>
          <a:prstGeom prst="rect">
            <a:avLst/>
          </a:prstGeom>
        </p:spPr>
        <p:txBody>
          <a:bodyPr anchor="t" rtlCol="false" tIns="0" lIns="0" bIns="0" rIns="0">
            <a:spAutoFit/>
          </a:bodyPr>
          <a:lstStyle/>
          <a:p>
            <a:pPr algn="l">
              <a:lnSpc>
                <a:spcPts val="2760"/>
              </a:lnSpc>
            </a:pPr>
            <a:r>
              <a:rPr lang="en-US" b="true" sz="2300" spc="-10">
                <a:solidFill>
                  <a:srgbClr val="000000"/>
                </a:solidFill>
                <a:latin typeface="Arial Bold"/>
                <a:ea typeface="Arial Bold"/>
                <a:cs typeface="Arial Bold"/>
                <a:sym typeface="Arial Bold"/>
              </a:rPr>
              <a:t>Backend (API &amp; Authentication)</a:t>
            </a:r>
          </a:p>
          <a:p>
            <a:pPr algn="l">
              <a:lnSpc>
                <a:spcPts val="2774"/>
              </a:lnSpc>
            </a:pPr>
            <a:r>
              <a:rPr lang="en-US" sz="2000" spc="-8">
                <a:solidFill>
                  <a:srgbClr val="000000"/>
                </a:solidFill>
                <a:latin typeface="Arial"/>
                <a:ea typeface="Arial"/>
                <a:cs typeface="Arial"/>
                <a:sym typeface="Arial"/>
              </a:rPr>
              <a:t>Node.js &amp; Express.js (v5.1.0) – Build and serve RESTful APIs  MongoDB &amp; Mongoose (v8.14.1) – For schema-based NoSQL database operations</a:t>
            </a:r>
          </a:p>
          <a:p>
            <a:pPr algn="l">
              <a:lnSpc>
                <a:spcPts val="2774"/>
              </a:lnSpc>
            </a:pPr>
            <a:r>
              <a:rPr lang="en-US" sz="2000" spc="-8">
                <a:solidFill>
                  <a:srgbClr val="000000"/>
                </a:solidFill>
                <a:latin typeface="Arial"/>
                <a:ea typeface="Arial"/>
                <a:cs typeface="Arial"/>
                <a:sym typeface="Arial"/>
              </a:rPr>
              <a:t>Passport.js &amp; Passport-Local-Mongoose – Implements secure user authentication</a:t>
            </a:r>
          </a:p>
          <a:p>
            <a:pPr algn="l">
              <a:lnSpc>
                <a:spcPts val="2400"/>
              </a:lnSpc>
            </a:pPr>
            <a:r>
              <a:rPr lang="en-US" sz="2000" spc="-8">
                <a:solidFill>
                  <a:srgbClr val="000000"/>
                </a:solidFill>
                <a:latin typeface="Arial"/>
                <a:ea typeface="Arial"/>
                <a:cs typeface="Arial"/>
                <a:sym typeface="Arial"/>
              </a:rPr>
              <a:t>Dotenv – Manages sensitive config via environment variables</a:t>
            </a:r>
          </a:p>
          <a:p>
            <a:pPr algn="l">
              <a:lnSpc>
                <a:spcPts val="2774"/>
              </a:lnSpc>
            </a:pPr>
            <a:r>
              <a:rPr lang="en-US" sz="2000" spc="-8">
                <a:solidFill>
                  <a:srgbClr val="000000"/>
                </a:solidFill>
                <a:latin typeface="Arial"/>
                <a:ea typeface="Arial"/>
                <a:cs typeface="Arial"/>
                <a:sym typeface="Arial"/>
              </a:rPr>
              <a:t>CORS &amp; Body-Parser – Middleware for secure and structured request handling</a:t>
            </a:r>
          </a:p>
          <a:p>
            <a:pPr algn="l">
              <a:lnSpc>
                <a:spcPts val="2400"/>
              </a:lnSpc>
            </a:pPr>
            <a:r>
              <a:rPr lang="en-US" sz="2000" spc="-8">
                <a:solidFill>
                  <a:srgbClr val="000000"/>
                </a:solidFill>
                <a:latin typeface="Arial"/>
                <a:ea typeface="Arial"/>
                <a:cs typeface="Arial"/>
                <a:sym typeface="Arial"/>
              </a:rPr>
              <a:t>Nodemon – For live development and reloading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1557" y="120853"/>
            <a:ext cx="13905252" cy="1330023"/>
            <a:chOff x="0" y="0"/>
            <a:chExt cx="18540336" cy="1773364"/>
          </a:xfrm>
        </p:grpSpPr>
        <p:sp>
          <p:nvSpPr>
            <p:cNvPr name="Freeform 3" id="3"/>
            <p:cNvSpPr/>
            <p:nvPr/>
          </p:nvSpPr>
          <p:spPr>
            <a:xfrm flipH="false" flipV="false" rot="0">
              <a:off x="0" y="0"/>
              <a:ext cx="18540349" cy="1773428"/>
            </a:xfrm>
            <a:custGeom>
              <a:avLst/>
              <a:gdLst/>
              <a:ahLst/>
              <a:cxnLst/>
              <a:rect r="r" b="b" t="t" l="l"/>
              <a:pathLst>
                <a:path h="1773428" w="18540349">
                  <a:moveTo>
                    <a:pt x="0" y="0"/>
                  </a:moveTo>
                  <a:lnTo>
                    <a:pt x="18540349" y="0"/>
                  </a:lnTo>
                  <a:lnTo>
                    <a:pt x="18540349" y="1773428"/>
                  </a:lnTo>
                  <a:lnTo>
                    <a:pt x="0" y="1773428"/>
                  </a:lnTo>
                  <a:lnTo>
                    <a:pt x="0" y="0"/>
                  </a:lnTo>
                  <a:close/>
                </a:path>
              </a:pathLst>
            </a:custGeom>
            <a:blipFill>
              <a:blip r:embed="rId2"/>
              <a:stretch>
                <a:fillRect l="0" t="-126" r="0" b="-122"/>
              </a:stretch>
            </a:blipFill>
          </p:spPr>
        </p:sp>
      </p:grpSp>
      <p:grpSp>
        <p:nvGrpSpPr>
          <p:cNvPr name="Group 4" id="4"/>
          <p:cNvGrpSpPr/>
          <p:nvPr/>
        </p:nvGrpSpPr>
        <p:grpSpPr>
          <a:xfrm rot="0">
            <a:off x="15776010" y="219742"/>
            <a:ext cx="2435743" cy="811368"/>
            <a:chOff x="0" y="0"/>
            <a:chExt cx="3247657" cy="1081824"/>
          </a:xfrm>
        </p:grpSpPr>
        <p:sp>
          <p:nvSpPr>
            <p:cNvPr name="Freeform 5" id="5"/>
            <p:cNvSpPr/>
            <p:nvPr/>
          </p:nvSpPr>
          <p:spPr>
            <a:xfrm flipH="false" flipV="false" rot="0">
              <a:off x="0" y="0"/>
              <a:ext cx="3247644" cy="1081786"/>
            </a:xfrm>
            <a:custGeom>
              <a:avLst/>
              <a:gdLst/>
              <a:ahLst/>
              <a:cxnLst/>
              <a:rect r="r" b="b" t="t" l="l"/>
              <a:pathLst>
                <a:path h="1081786" w="3247644">
                  <a:moveTo>
                    <a:pt x="0" y="0"/>
                  </a:moveTo>
                  <a:lnTo>
                    <a:pt x="3247644" y="0"/>
                  </a:lnTo>
                  <a:lnTo>
                    <a:pt x="3247644" y="1081786"/>
                  </a:lnTo>
                  <a:lnTo>
                    <a:pt x="0" y="1081786"/>
                  </a:lnTo>
                  <a:lnTo>
                    <a:pt x="0" y="0"/>
                  </a:lnTo>
                  <a:close/>
                </a:path>
              </a:pathLst>
            </a:custGeom>
            <a:blipFill>
              <a:blip r:embed="rId3"/>
              <a:stretch>
                <a:fillRect l="-139" t="0" r="-139" b="-3"/>
              </a:stretch>
            </a:blipFill>
          </p:spPr>
        </p:sp>
      </p:grpSp>
      <p:sp>
        <p:nvSpPr>
          <p:cNvPr name="Freeform 6" id="6"/>
          <p:cNvSpPr/>
          <p:nvPr/>
        </p:nvSpPr>
        <p:spPr>
          <a:xfrm flipH="false" flipV="false" rot="0">
            <a:off x="801557" y="1787719"/>
            <a:ext cx="15889772" cy="8421579"/>
          </a:xfrm>
          <a:custGeom>
            <a:avLst/>
            <a:gdLst/>
            <a:ahLst/>
            <a:cxnLst/>
            <a:rect r="r" b="b" t="t" l="l"/>
            <a:pathLst>
              <a:path h="8421579" w="15889772">
                <a:moveTo>
                  <a:pt x="0" y="0"/>
                </a:moveTo>
                <a:lnTo>
                  <a:pt x="15889772" y="0"/>
                </a:lnTo>
                <a:lnTo>
                  <a:pt x="15889772" y="8421579"/>
                </a:lnTo>
                <a:lnTo>
                  <a:pt x="0" y="8421579"/>
                </a:lnTo>
                <a:lnTo>
                  <a:pt x="0" y="0"/>
                </a:lnTo>
                <a:close/>
              </a:path>
            </a:pathLst>
          </a:custGeom>
          <a:blipFill>
            <a:blip r:embed="rId4"/>
            <a:stretch>
              <a:fillRect l="0" t="0" r="0" b="0"/>
            </a:stretch>
          </a:blipFill>
        </p:spPr>
      </p:sp>
      <p:sp>
        <p:nvSpPr>
          <p:cNvPr name="TextBox 7" id="7"/>
          <p:cNvSpPr txBox="true"/>
          <p:nvPr/>
        </p:nvSpPr>
        <p:spPr>
          <a:xfrm rot="0">
            <a:off x="979980" y="404974"/>
            <a:ext cx="13569953" cy="727072"/>
          </a:xfrm>
          <a:prstGeom prst="rect">
            <a:avLst/>
          </a:prstGeom>
        </p:spPr>
        <p:txBody>
          <a:bodyPr anchor="t" rtlCol="false" tIns="0" lIns="0" bIns="0" rIns="0">
            <a:spAutoFit/>
          </a:bodyPr>
          <a:lstStyle/>
          <a:p>
            <a:pPr algn="l">
              <a:lnSpc>
                <a:spcPts val="5400"/>
              </a:lnSpc>
            </a:pPr>
            <a:r>
              <a:rPr lang="en-US" sz="4500" spc="-265">
                <a:solidFill>
                  <a:srgbClr val="FFFFFF"/>
                </a:solidFill>
                <a:latin typeface="Arial"/>
                <a:ea typeface="Arial"/>
                <a:cs typeface="Arial"/>
                <a:sym typeface="Arial"/>
              </a:rPr>
              <a:t>Changes from the Original Proposal and Reasons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77296" y="120853"/>
            <a:ext cx="10453059" cy="1330242"/>
            <a:chOff x="0" y="0"/>
            <a:chExt cx="13937412" cy="1773657"/>
          </a:xfrm>
        </p:grpSpPr>
        <p:sp>
          <p:nvSpPr>
            <p:cNvPr name="Freeform 3" id="3"/>
            <p:cNvSpPr/>
            <p:nvPr/>
          </p:nvSpPr>
          <p:spPr>
            <a:xfrm flipH="false" flipV="false" rot="0">
              <a:off x="0" y="0"/>
              <a:ext cx="13937362" cy="1773682"/>
            </a:xfrm>
            <a:custGeom>
              <a:avLst/>
              <a:gdLst/>
              <a:ahLst/>
              <a:cxnLst/>
              <a:rect r="r" b="b" t="t" l="l"/>
              <a:pathLst>
                <a:path h="1773682" w="13937362">
                  <a:moveTo>
                    <a:pt x="0" y="0"/>
                  </a:moveTo>
                  <a:lnTo>
                    <a:pt x="13937362" y="0"/>
                  </a:lnTo>
                  <a:lnTo>
                    <a:pt x="13937362" y="1773682"/>
                  </a:lnTo>
                  <a:lnTo>
                    <a:pt x="0" y="1773682"/>
                  </a:lnTo>
                  <a:lnTo>
                    <a:pt x="0" y="0"/>
                  </a:lnTo>
                  <a:close/>
                </a:path>
              </a:pathLst>
            </a:custGeom>
            <a:blipFill>
              <a:blip r:embed="rId2"/>
              <a:stretch>
                <a:fillRect l="0" t="-119" r="0" b="-118"/>
              </a:stretch>
            </a:blipFill>
          </p:spPr>
        </p:sp>
      </p:grpSp>
      <p:grpSp>
        <p:nvGrpSpPr>
          <p:cNvPr name="Group 4" id="4"/>
          <p:cNvGrpSpPr/>
          <p:nvPr/>
        </p:nvGrpSpPr>
        <p:grpSpPr>
          <a:xfrm rot="0">
            <a:off x="15776010" y="219742"/>
            <a:ext cx="2435743" cy="811368"/>
            <a:chOff x="0" y="0"/>
            <a:chExt cx="3247657" cy="1081824"/>
          </a:xfrm>
        </p:grpSpPr>
        <p:sp>
          <p:nvSpPr>
            <p:cNvPr name="Freeform 5" id="5"/>
            <p:cNvSpPr/>
            <p:nvPr/>
          </p:nvSpPr>
          <p:spPr>
            <a:xfrm flipH="false" flipV="false" rot="0">
              <a:off x="0" y="0"/>
              <a:ext cx="3247644" cy="1081786"/>
            </a:xfrm>
            <a:custGeom>
              <a:avLst/>
              <a:gdLst/>
              <a:ahLst/>
              <a:cxnLst/>
              <a:rect r="r" b="b" t="t" l="l"/>
              <a:pathLst>
                <a:path h="1081786" w="3247644">
                  <a:moveTo>
                    <a:pt x="0" y="0"/>
                  </a:moveTo>
                  <a:lnTo>
                    <a:pt x="3247644" y="0"/>
                  </a:lnTo>
                  <a:lnTo>
                    <a:pt x="3247644" y="1081786"/>
                  </a:lnTo>
                  <a:lnTo>
                    <a:pt x="0" y="1081786"/>
                  </a:lnTo>
                  <a:lnTo>
                    <a:pt x="0" y="0"/>
                  </a:lnTo>
                  <a:close/>
                </a:path>
              </a:pathLst>
            </a:custGeom>
            <a:blipFill>
              <a:blip r:embed="rId3"/>
              <a:stretch>
                <a:fillRect l="-139" t="0" r="-139" b="-3"/>
              </a:stretch>
            </a:blipFill>
          </p:spPr>
        </p:sp>
      </p:grpSp>
      <p:sp>
        <p:nvSpPr>
          <p:cNvPr name="TextBox 6" id="6"/>
          <p:cNvSpPr txBox="true"/>
          <p:nvPr/>
        </p:nvSpPr>
        <p:spPr>
          <a:xfrm rot="0">
            <a:off x="3374736" y="60493"/>
            <a:ext cx="9658350" cy="1273178"/>
          </a:xfrm>
          <a:prstGeom prst="rect">
            <a:avLst/>
          </a:prstGeom>
        </p:spPr>
        <p:txBody>
          <a:bodyPr anchor="t" rtlCol="false" tIns="0" lIns="0" bIns="0" rIns="0">
            <a:spAutoFit/>
          </a:bodyPr>
          <a:lstStyle/>
          <a:p>
            <a:pPr algn="l">
              <a:lnSpc>
                <a:spcPts val="9540"/>
              </a:lnSpc>
            </a:pPr>
            <a:r>
              <a:rPr lang="en-US" sz="7950" spc="-470">
                <a:solidFill>
                  <a:srgbClr val="FFFFFF"/>
                </a:solidFill>
                <a:latin typeface="Arial"/>
                <a:ea typeface="Arial"/>
                <a:cs typeface="Arial"/>
                <a:sym typeface="Arial"/>
              </a:rPr>
              <a:t>Benefits &amp; Features</a:t>
            </a:r>
          </a:p>
        </p:txBody>
      </p:sp>
      <p:grpSp>
        <p:nvGrpSpPr>
          <p:cNvPr name="Group 7" id="7"/>
          <p:cNvGrpSpPr/>
          <p:nvPr/>
        </p:nvGrpSpPr>
        <p:grpSpPr>
          <a:xfrm rot="0">
            <a:off x="393287" y="2067468"/>
            <a:ext cx="90754" cy="90754"/>
            <a:chOff x="0" y="0"/>
            <a:chExt cx="121006" cy="121006"/>
          </a:xfrm>
        </p:grpSpPr>
        <p:sp>
          <p:nvSpPr>
            <p:cNvPr name="Freeform 8" id="8"/>
            <p:cNvSpPr/>
            <p:nvPr/>
          </p:nvSpPr>
          <p:spPr>
            <a:xfrm flipH="false" flipV="false" rot="0">
              <a:off x="0" y="0"/>
              <a:ext cx="121031" cy="121031"/>
            </a:xfrm>
            <a:custGeom>
              <a:avLst/>
              <a:gdLst/>
              <a:ahLst/>
              <a:cxnLst/>
              <a:rect r="r" b="b" t="t" l="l"/>
              <a:pathLst>
                <a:path h="121031" w="121031">
                  <a:moveTo>
                    <a:pt x="0" y="0"/>
                  </a:moveTo>
                  <a:lnTo>
                    <a:pt x="121031" y="0"/>
                  </a:lnTo>
                  <a:lnTo>
                    <a:pt x="121031" y="121031"/>
                  </a:lnTo>
                  <a:lnTo>
                    <a:pt x="0" y="121031"/>
                  </a:lnTo>
                  <a:lnTo>
                    <a:pt x="0" y="0"/>
                  </a:lnTo>
                  <a:close/>
                </a:path>
              </a:pathLst>
            </a:custGeom>
            <a:blipFill>
              <a:blip r:embed="rId4"/>
              <a:stretch>
                <a:fillRect l="0" t="0" r="20" b="20"/>
              </a:stretch>
            </a:blipFill>
          </p:spPr>
        </p:sp>
      </p:grpSp>
      <p:sp>
        <p:nvSpPr>
          <p:cNvPr name="TextBox 9" id="9"/>
          <p:cNvSpPr txBox="true"/>
          <p:nvPr/>
        </p:nvSpPr>
        <p:spPr>
          <a:xfrm rot="0">
            <a:off x="672951" y="1348007"/>
            <a:ext cx="17380582" cy="6707459"/>
          </a:xfrm>
          <a:prstGeom prst="rect">
            <a:avLst/>
          </a:prstGeom>
        </p:spPr>
        <p:txBody>
          <a:bodyPr anchor="t" rtlCol="false" tIns="0" lIns="0" bIns="0" rIns="0">
            <a:spAutoFit/>
          </a:bodyPr>
          <a:lstStyle/>
          <a:p>
            <a:pPr algn="l">
              <a:lnSpc>
                <a:spcPts val="5715"/>
              </a:lnSpc>
            </a:pPr>
            <a:r>
              <a:rPr lang="en-US" sz="3150" spc="75">
                <a:solidFill>
                  <a:srgbClr val="000000"/>
                </a:solidFill>
                <a:latin typeface="Arial"/>
                <a:ea typeface="Arial"/>
                <a:cs typeface="Arial"/>
                <a:sym typeface="Arial"/>
              </a:rPr>
              <a:t>Smooth and user-friendly trading experience that fits any level of	investors. Real time market information to trade efficiently and intelligently.</a:t>
            </a:r>
          </a:p>
          <a:p>
            <a:pPr algn="l">
              <a:lnSpc>
                <a:spcPts val="3779"/>
              </a:lnSpc>
            </a:pPr>
            <a:r>
              <a:rPr lang="en-US" sz="3150" spc="90">
                <a:solidFill>
                  <a:srgbClr val="000000"/>
                </a:solidFill>
                <a:latin typeface="Arial"/>
                <a:ea typeface="Arial"/>
                <a:cs typeface="Arial"/>
                <a:sym typeface="Arial"/>
              </a:rPr>
              <a:t>Deep technical analysis advanced charting.</a:t>
            </a:r>
          </a:p>
          <a:p>
            <a:pPr algn="l">
              <a:lnSpc>
                <a:spcPts val="5715"/>
              </a:lnSpc>
            </a:pPr>
            <a:r>
              <a:rPr lang="en-US" sz="3150" spc="85">
                <a:solidFill>
                  <a:srgbClr val="000000"/>
                </a:solidFill>
                <a:latin typeface="Arial"/>
                <a:ea typeface="Arial"/>
                <a:cs typeface="Arial"/>
                <a:sym typeface="Arial"/>
              </a:rPr>
              <a:t>Easy and fast order entry to execute trade efficiently. Holding and P&amp;L portfolio monitoring with a detailed view.</a:t>
            </a:r>
          </a:p>
          <a:p>
            <a:pPr algn="l">
              <a:lnSpc>
                <a:spcPts val="3779"/>
              </a:lnSpc>
            </a:pPr>
            <a:r>
              <a:rPr lang="en-US" sz="3150" spc="60">
                <a:solidFill>
                  <a:srgbClr val="000000"/>
                </a:solidFill>
                <a:latin typeface="Arial"/>
                <a:ea typeface="Arial"/>
                <a:cs typeface="Arial"/>
                <a:sym typeface="Arial"/>
              </a:rPr>
              <a:t>The availability of	detailed reports on the history of	performance and trading.</a:t>
            </a:r>
          </a:p>
          <a:p>
            <a:pPr algn="l">
              <a:lnSpc>
                <a:spcPts val="5715"/>
              </a:lnSpc>
            </a:pPr>
            <a:r>
              <a:rPr lang="en-US" sz="3150" spc="70">
                <a:solidFill>
                  <a:srgbClr val="000000"/>
                </a:solidFill>
                <a:latin typeface="Arial"/>
                <a:ea typeface="Arial"/>
                <a:cs typeface="Arial"/>
                <a:sym typeface="Arial"/>
              </a:rPr>
              <a:t>It has fund management functionality that allows easy deposits and withdrawals. Price movement and trade alerts and notifications.</a:t>
            </a:r>
          </a:p>
          <a:p>
            <a:pPr algn="l">
              <a:lnSpc>
                <a:spcPts val="5715"/>
              </a:lnSpc>
            </a:pPr>
            <a:r>
              <a:rPr lang="en-US" sz="3150" spc="70">
                <a:solidFill>
                  <a:srgbClr val="000000"/>
                </a:solidFill>
                <a:latin typeface="Arial"/>
                <a:ea typeface="Arial"/>
                <a:cs typeface="Arial"/>
                <a:sym typeface="Arial"/>
              </a:rPr>
              <a:t>Kite and Console are examples of	integrated tools for increased functionality and analytics. One-stop shop to help you invest intelligently and wisely.</a:t>
            </a:r>
          </a:p>
        </p:txBody>
      </p:sp>
      <p:grpSp>
        <p:nvGrpSpPr>
          <p:cNvPr name="Group 10" id="10"/>
          <p:cNvGrpSpPr/>
          <p:nvPr/>
        </p:nvGrpSpPr>
        <p:grpSpPr>
          <a:xfrm rot="0">
            <a:off x="393287" y="2793540"/>
            <a:ext cx="90754" cy="90754"/>
            <a:chOff x="0" y="0"/>
            <a:chExt cx="121006" cy="121006"/>
          </a:xfrm>
        </p:grpSpPr>
        <p:sp>
          <p:nvSpPr>
            <p:cNvPr name="Freeform 11" id="11"/>
            <p:cNvSpPr/>
            <p:nvPr/>
          </p:nvSpPr>
          <p:spPr>
            <a:xfrm flipH="false" flipV="false" rot="0">
              <a:off x="0" y="0"/>
              <a:ext cx="121031" cy="121031"/>
            </a:xfrm>
            <a:custGeom>
              <a:avLst/>
              <a:gdLst/>
              <a:ahLst/>
              <a:cxnLst/>
              <a:rect r="r" b="b" t="t" l="l"/>
              <a:pathLst>
                <a:path h="121031" w="121031">
                  <a:moveTo>
                    <a:pt x="0" y="0"/>
                  </a:moveTo>
                  <a:lnTo>
                    <a:pt x="121031" y="0"/>
                  </a:lnTo>
                  <a:lnTo>
                    <a:pt x="121031" y="121031"/>
                  </a:lnTo>
                  <a:lnTo>
                    <a:pt x="0" y="121031"/>
                  </a:lnTo>
                  <a:lnTo>
                    <a:pt x="0" y="0"/>
                  </a:lnTo>
                  <a:close/>
                </a:path>
              </a:pathLst>
            </a:custGeom>
            <a:blipFill>
              <a:blip r:embed="rId5"/>
              <a:stretch>
                <a:fillRect l="0" t="-2633" r="20" b="-2612"/>
              </a:stretch>
            </a:blipFill>
          </p:spPr>
        </p:sp>
      </p:grpSp>
      <p:grpSp>
        <p:nvGrpSpPr>
          <p:cNvPr name="Group 12" id="12"/>
          <p:cNvGrpSpPr/>
          <p:nvPr/>
        </p:nvGrpSpPr>
        <p:grpSpPr>
          <a:xfrm rot="0">
            <a:off x="393287" y="3519602"/>
            <a:ext cx="90754" cy="90754"/>
            <a:chOff x="0" y="0"/>
            <a:chExt cx="121006" cy="121006"/>
          </a:xfrm>
        </p:grpSpPr>
        <p:sp>
          <p:nvSpPr>
            <p:cNvPr name="Freeform 13" id="13"/>
            <p:cNvSpPr/>
            <p:nvPr/>
          </p:nvSpPr>
          <p:spPr>
            <a:xfrm flipH="false" flipV="false" rot="0">
              <a:off x="0" y="0"/>
              <a:ext cx="121031" cy="121031"/>
            </a:xfrm>
            <a:custGeom>
              <a:avLst/>
              <a:gdLst/>
              <a:ahLst/>
              <a:cxnLst/>
              <a:rect r="r" b="b" t="t" l="l"/>
              <a:pathLst>
                <a:path h="121031" w="121031">
                  <a:moveTo>
                    <a:pt x="0" y="0"/>
                  </a:moveTo>
                  <a:lnTo>
                    <a:pt x="121031" y="0"/>
                  </a:lnTo>
                  <a:lnTo>
                    <a:pt x="121031" y="121031"/>
                  </a:lnTo>
                  <a:lnTo>
                    <a:pt x="0" y="121031"/>
                  </a:lnTo>
                  <a:lnTo>
                    <a:pt x="0" y="0"/>
                  </a:lnTo>
                  <a:close/>
                </a:path>
              </a:pathLst>
            </a:custGeom>
            <a:blipFill>
              <a:blip r:embed="rId4"/>
              <a:stretch>
                <a:fillRect l="0" t="0" r="20" b="20"/>
              </a:stretch>
            </a:blipFill>
          </p:spPr>
        </p:sp>
      </p:grpSp>
      <p:grpSp>
        <p:nvGrpSpPr>
          <p:cNvPr name="Group 14" id="14"/>
          <p:cNvGrpSpPr/>
          <p:nvPr/>
        </p:nvGrpSpPr>
        <p:grpSpPr>
          <a:xfrm rot="0">
            <a:off x="393287" y="4245674"/>
            <a:ext cx="90754" cy="90754"/>
            <a:chOff x="0" y="0"/>
            <a:chExt cx="121006" cy="121006"/>
          </a:xfrm>
        </p:grpSpPr>
        <p:sp>
          <p:nvSpPr>
            <p:cNvPr name="Freeform 15" id="15"/>
            <p:cNvSpPr/>
            <p:nvPr/>
          </p:nvSpPr>
          <p:spPr>
            <a:xfrm flipH="false" flipV="false" rot="0">
              <a:off x="0" y="0"/>
              <a:ext cx="121031" cy="121031"/>
            </a:xfrm>
            <a:custGeom>
              <a:avLst/>
              <a:gdLst/>
              <a:ahLst/>
              <a:cxnLst/>
              <a:rect r="r" b="b" t="t" l="l"/>
              <a:pathLst>
                <a:path h="121031" w="121031">
                  <a:moveTo>
                    <a:pt x="0" y="0"/>
                  </a:moveTo>
                  <a:lnTo>
                    <a:pt x="121031" y="0"/>
                  </a:lnTo>
                  <a:lnTo>
                    <a:pt x="121031" y="121031"/>
                  </a:lnTo>
                  <a:lnTo>
                    <a:pt x="0" y="121031"/>
                  </a:lnTo>
                  <a:lnTo>
                    <a:pt x="0" y="0"/>
                  </a:lnTo>
                  <a:close/>
                </a:path>
              </a:pathLst>
            </a:custGeom>
            <a:blipFill>
              <a:blip r:embed="rId6"/>
              <a:stretch>
                <a:fillRect l="0" t="0" r="20" b="20"/>
              </a:stretch>
            </a:blipFill>
          </p:spPr>
        </p:sp>
      </p:grpSp>
      <p:grpSp>
        <p:nvGrpSpPr>
          <p:cNvPr name="Group 16" id="16"/>
          <p:cNvGrpSpPr/>
          <p:nvPr/>
        </p:nvGrpSpPr>
        <p:grpSpPr>
          <a:xfrm rot="0">
            <a:off x="393287" y="4971736"/>
            <a:ext cx="90754" cy="90754"/>
            <a:chOff x="0" y="0"/>
            <a:chExt cx="121006" cy="121006"/>
          </a:xfrm>
        </p:grpSpPr>
        <p:sp>
          <p:nvSpPr>
            <p:cNvPr name="Freeform 17" id="17"/>
            <p:cNvSpPr/>
            <p:nvPr/>
          </p:nvSpPr>
          <p:spPr>
            <a:xfrm flipH="false" flipV="false" rot="0">
              <a:off x="0" y="0"/>
              <a:ext cx="121031" cy="121031"/>
            </a:xfrm>
            <a:custGeom>
              <a:avLst/>
              <a:gdLst/>
              <a:ahLst/>
              <a:cxnLst/>
              <a:rect r="r" b="b" t="t" l="l"/>
              <a:pathLst>
                <a:path h="121031" w="121031">
                  <a:moveTo>
                    <a:pt x="0" y="0"/>
                  </a:moveTo>
                  <a:lnTo>
                    <a:pt x="121031" y="0"/>
                  </a:lnTo>
                  <a:lnTo>
                    <a:pt x="121031" y="121031"/>
                  </a:lnTo>
                  <a:lnTo>
                    <a:pt x="0" y="121031"/>
                  </a:lnTo>
                  <a:lnTo>
                    <a:pt x="0" y="0"/>
                  </a:lnTo>
                  <a:close/>
                </a:path>
              </a:pathLst>
            </a:custGeom>
            <a:blipFill>
              <a:blip r:embed="rId6"/>
              <a:stretch>
                <a:fillRect l="0" t="0" r="20" b="20"/>
              </a:stretch>
            </a:blipFill>
          </p:spPr>
        </p:sp>
      </p:grpSp>
      <p:grpSp>
        <p:nvGrpSpPr>
          <p:cNvPr name="Group 18" id="18"/>
          <p:cNvGrpSpPr/>
          <p:nvPr/>
        </p:nvGrpSpPr>
        <p:grpSpPr>
          <a:xfrm rot="0">
            <a:off x="393287" y="5697807"/>
            <a:ext cx="90754" cy="90754"/>
            <a:chOff x="0" y="0"/>
            <a:chExt cx="121006" cy="121006"/>
          </a:xfrm>
        </p:grpSpPr>
        <p:sp>
          <p:nvSpPr>
            <p:cNvPr name="Freeform 19" id="19"/>
            <p:cNvSpPr/>
            <p:nvPr/>
          </p:nvSpPr>
          <p:spPr>
            <a:xfrm flipH="false" flipV="false" rot="0">
              <a:off x="0" y="0"/>
              <a:ext cx="121031" cy="121031"/>
            </a:xfrm>
            <a:custGeom>
              <a:avLst/>
              <a:gdLst/>
              <a:ahLst/>
              <a:cxnLst/>
              <a:rect r="r" b="b" t="t" l="l"/>
              <a:pathLst>
                <a:path h="121031" w="121031">
                  <a:moveTo>
                    <a:pt x="0" y="0"/>
                  </a:moveTo>
                  <a:lnTo>
                    <a:pt x="121031" y="0"/>
                  </a:lnTo>
                  <a:lnTo>
                    <a:pt x="121031" y="121031"/>
                  </a:lnTo>
                  <a:lnTo>
                    <a:pt x="0" y="121031"/>
                  </a:lnTo>
                  <a:lnTo>
                    <a:pt x="0" y="0"/>
                  </a:lnTo>
                  <a:close/>
                </a:path>
              </a:pathLst>
            </a:custGeom>
            <a:blipFill>
              <a:blip r:embed="rId6"/>
              <a:stretch>
                <a:fillRect l="0" t="0" r="20" b="20"/>
              </a:stretch>
            </a:blipFill>
          </p:spPr>
        </p:sp>
      </p:grpSp>
      <p:grpSp>
        <p:nvGrpSpPr>
          <p:cNvPr name="Group 20" id="20"/>
          <p:cNvGrpSpPr/>
          <p:nvPr/>
        </p:nvGrpSpPr>
        <p:grpSpPr>
          <a:xfrm rot="0">
            <a:off x="393287" y="6423870"/>
            <a:ext cx="90754" cy="90754"/>
            <a:chOff x="0" y="0"/>
            <a:chExt cx="121006" cy="121006"/>
          </a:xfrm>
        </p:grpSpPr>
        <p:sp>
          <p:nvSpPr>
            <p:cNvPr name="Freeform 21" id="21"/>
            <p:cNvSpPr/>
            <p:nvPr/>
          </p:nvSpPr>
          <p:spPr>
            <a:xfrm flipH="false" flipV="false" rot="0">
              <a:off x="0" y="0"/>
              <a:ext cx="121031" cy="121031"/>
            </a:xfrm>
            <a:custGeom>
              <a:avLst/>
              <a:gdLst/>
              <a:ahLst/>
              <a:cxnLst/>
              <a:rect r="r" b="b" t="t" l="l"/>
              <a:pathLst>
                <a:path h="121031" w="121031">
                  <a:moveTo>
                    <a:pt x="0" y="0"/>
                  </a:moveTo>
                  <a:lnTo>
                    <a:pt x="121031" y="0"/>
                  </a:lnTo>
                  <a:lnTo>
                    <a:pt x="121031" y="121031"/>
                  </a:lnTo>
                  <a:lnTo>
                    <a:pt x="0" y="121031"/>
                  </a:lnTo>
                  <a:lnTo>
                    <a:pt x="0" y="0"/>
                  </a:lnTo>
                  <a:close/>
                </a:path>
              </a:pathLst>
            </a:custGeom>
            <a:blipFill>
              <a:blip r:embed="rId6"/>
              <a:stretch>
                <a:fillRect l="0" t="0" r="20" b="20"/>
              </a:stretch>
            </a:blipFill>
          </p:spPr>
        </p:sp>
      </p:grpSp>
      <p:grpSp>
        <p:nvGrpSpPr>
          <p:cNvPr name="Group 22" id="22"/>
          <p:cNvGrpSpPr/>
          <p:nvPr/>
        </p:nvGrpSpPr>
        <p:grpSpPr>
          <a:xfrm rot="0">
            <a:off x="393287" y="7149941"/>
            <a:ext cx="90754" cy="90754"/>
            <a:chOff x="0" y="0"/>
            <a:chExt cx="121006" cy="121006"/>
          </a:xfrm>
        </p:grpSpPr>
        <p:sp>
          <p:nvSpPr>
            <p:cNvPr name="Freeform 23" id="23"/>
            <p:cNvSpPr/>
            <p:nvPr/>
          </p:nvSpPr>
          <p:spPr>
            <a:xfrm flipH="false" flipV="false" rot="0">
              <a:off x="0" y="0"/>
              <a:ext cx="121031" cy="121031"/>
            </a:xfrm>
            <a:custGeom>
              <a:avLst/>
              <a:gdLst/>
              <a:ahLst/>
              <a:cxnLst/>
              <a:rect r="r" b="b" t="t" l="l"/>
              <a:pathLst>
                <a:path h="121031" w="121031">
                  <a:moveTo>
                    <a:pt x="0" y="0"/>
                  </a:moveTo>
                  <a:lnTo>
                    <a:pt x="121031" y="0"/>
                  </a:lnTo>
                  <a:lnTo>
                    <a:pt x="121031" y="121031"/>
                  </a:lnTo>
                  <a:lnTo>
                    <a:pt x="0" y="121031"/>
                  </a:lnTo>
                  <a:lnTo>
                    <a:pt x="0" y="0"/>
                  </a:lnTo>
                  <a:close/>
                </a:path>
              </a:pathLst>
            </a:custGeom>
            <a:blipFill>
              <a:blip r:embed="rId6"/>
              <a:stretch>
                <a:fillRect l="0" t="0" r="20" b="20"/>
              </a:stretch>
            </a:blipFill>
          </p:spPr>
        </p:sp>
      </p:grpSp>
      <p:grpSp>
        <p:nvGrpSpPr>
          <p:cNvPr name="Group 24" id="24"/>
          <p:cNvGrpSpPr/>
          <p:nvPr/>
        </p:nvGrpSpPr>
        <p:grpSpPr>
          <a:xfrm rot="0">
            <a:off x="393287" y="7876003"/>
            <a:ext cx="90754" cy="90754"/>
            <a:chOff x="0" y="0"/>
            <a:chExt cx="121006" cy="121006"/>
          </a:xfrm>
        </p:grpSpPr>
        <p:sp>
          <p:nvSpPr>
            <p:cNvPr name="Freeform 25" id="25"/>
            <p:cNvSpPr/>
            <p:nvPr/>
          </p:nvSpPr>
          <p:spPr>
            <a:xfrm flipH="false" flipV="false" rot="0">
              <a:off x="0" y="0"/>
              <a:ext cx="121031" cy="121031"/>
            </a:xfrm>
            <a:custGeom>
              <a:avLst/>
              <a:gdLst/>
              <a:ahLst/>
              <a:cxnLst/>
              <a:rect r="r" b="b" t="t" l="l"/>
              <a:pathLst>
                <a:path h="121031" w="121031">
                  <a:moveTo>
                    <a:pt x="0" y="0"/>
                  </a:moveTo>
                  <a:lnTo>
                    <a:pt x="121031" y="0"/>
                  </a:lnTo>
                  <a:lnTo>
                    <a:pt x="121031" y="121031"/>
                  </a:lnTo>
                  <a:lnTo>
                    <a:pt x="0" y="121031"/>
                  </a:lnTo>
                  <a:lnTo>
                    <a:pt x="0" y="0"/>
                  </a:lnTo>
                  <a:close/>
                </a:path>
              </a:pathLst>
            </a:custGeom>
            <a:blipFill>
              <a:blip r:embed="rId6"/>
              <a:stretch>
                <a:fillRect l="0" t="0" r="20" b="20"/>
              </a:stretch>
            </a:blipFill>
          </p:spPr>
        </p:sp>
      </p:grpSp>
      <p:grpSp>
        <p:nvGrpSpPr>
          <p:cNvPr name="Group 26" id="26"/>
          <p:cNvGrpSpPr/>
          <p:nvPr/>
        </p:nvGrpSpPr>
        <p:grpSpPr>
          <a:xfrm rot="0">
            <a:off x="393287" y="8602075"/>
            <a:ext cx="90754" cy="90754"/>
            <a:chOff x="0" y="0"/>
            <a:chExt cx="121006" cy="121006"/>
          </a:xfrm>
        </p:grpSpPr>
        <p:sp>
          <p:nvSpPr>
            <p:cNvPr name="Freeform 27" id="27"/>
            <p:cNvSpPr/>
            <p:nvPr/>
          </p:nvSpPr>
          <p:spPr>
            <a:xfrm flipH="false" flipV="false" rot="0">
              <a:off x="0" y="0"/>
              <a:ext cx="121031" cy="121031"/>
            </a:xfrm>
            <a:custGeom>
              <a:avLst/>
              <a:gdLst/>
              <a:ahLst/>
              <a:cxnLst/>
              <a:rect r="r" b="b" t="t" l="l"/>
              <a:pathLst>
                <a:path h="121031" w="121031">
                  <a:moveTo>
                    <a:pt x="0" y="0"/>
                  </a:moveTo>
                  <a:lnTo>
                    <a:pt x="121031" y="0"/>
                  </a:lnTo>
                  <a:lnTo>
                    <a:pt x="121031" y="121031"/>
                  </a:lnTo>
                  <a:lnTo>
                    <a:pt x="0" y="121031"/>
                  </a:lnTo>
                  <a:lnTo>
                    <a:pt x="0" y="0"/>
                  </a:lnTo>
                  <a:close/>
                </a:path>
              </a:pathLst>
            </a:custGeom>
            <a:blipFill>
              <a:blip r:embed="rId6"/>
              <a:stretch>
                <a:fillRect l="0" t="0" r="20" b="2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77324" y="120853"/>
            <a:ext cx="10455278" cy="1330328"/>
            <a:chOff x="0" y="0"/>
            <a:chExt cx="13940371" cy="1773771"/>
          </a:xfrm>
        </p:grpSpPr>
        <p:sp>
          <p:nvSpPr>
            <p:cNvPr name="Freeform 3" id="3"/>
            <p:cNvSpPr/>
            <p:nvPr/>
          </p:nvSpPr>
          <p:spPr>
            <a:xfrm flipH="false" flipV="false" rot="0">
              <a:off x="0" y="0"/>
              <a:ext cx="13939774" cy="1773682"/>
            </a:xfrm>
            <a:custGeom>
              <a:avLst/>
              <a:gdLst/>
              <a:ahLst/>
              <a:cxnLst/>
              <a:rect r="r" b="b" t="t" l="l"/>
              <a:pathLst>
                <a:path h="1773682" w="13939774">
                  <a:moveTo>
                    <a:pt x="13939774" y="1773682"/>
                  </a:moveTo>
                  <a:lnTo>
                    <a:pt x="0" y="1773682"/>
                  </a:lnTo>
                  <a:lnTo>
                    <a:pt x="0" y="0"/>
                  </a:lnTo>
                  <a:lnTo>
                    <a:pt x="13939774" y="0"/>
                  </a:lnTo>
                  <a:lnTo>
                    <a:pt x="13939774" y="1773682"/>
                  </a:lnTo>
                  <a:close/>
                </a:path>
              </a:pathLst>
            </a:custGeom>
            <a:solidFill>
              <a:srgbClr val="2D4DE6"/>
            </a:solidFill>
          </p:spPr>
        </p:sp>
      </p:grpSp>
      <p:grpSp>
        <p:nvGrpSpPr>
          <p:cNvPr name="Group 4" id="4"/>
          <p:cNvGrpSpPr/>
          <p:nvPr/>
        </p:nvGrpSpPr>
        <p:grpSpPr>
          <a:xfrm rot="0">
            <a:off x="15776010" y="219742"/>
            <a:ext cx="2435743" cy="811368"/>
            <a:chOff x="0" y="0"/>
            <a:chExt cx="3247657" cy="1081824"/>
          </a:xfrm>
        </p:grpSpPr>
        <p:sp>
          <p:nvSpPr>
            <p:cNvPr name="Freeform 5" id="5"/>
            <p:cNvSpPr/>
            <p:nvPr/>
          </p:nvSpPr>
          <p:spPr>
            <a:xfrm flipH="false" flipV="false" rot="0">
              <a:off x="0" y="0"/>
              <a:ext cx="3247644" cy="1081786"/>
            </a:xfrm>
            <a:custGeom>
              <a:avLst/>
              <a:gdLst/>
              <a:ahLst/>
              <a:cxnLst/>
              <a:rect r="r" b="b" t="t" l="l"/>
              <a:pathLst>
                <a:path h="1081786" w="3247644">
                  <a:moveTo>
                    <a:pt x="0" y="0"/>
                  </a:moveTo>
                  <a:lnTo>
                    <a:pt x="3247644" y="0"/>
                  </a:lnTo>
                  <a:lnTo>
                    <a:pt x="3247644" y="1081786"/>
                  </a:lnTo>
                  <a:lnTo>
                    <a:pt x="0" y="1081786"/>
                  </a:lnTo>
                  <a:lnTo>
                    <a:pt x="0" y="0"/>
                  </a:lnTo>
                  <a:close/>
                </a:path>
              </a:pathLst>
            </a:custGeom>
            <a:blipFill>
              <a:blip r:embed="rId2"/>
              <a:stretch>
                <a:fillRect l="-139" t="0" r="-139" b="-3"/>
              </a:stretch>
            </a:blipFill>
          </p:spPr>
        </p:sp>
      </p:grpSp>
      <p:grpSp>
        <p:nvGrpSpPr>
          <p:cNvPr name="Group 6" id="6"/>
          <p:cNvGrpSpPr/>
          <p:nvPr/>
        </p:nvGrpSpPr>
        <p:grpSpPr>
          <a:xfrm rot="0">
            <a:off x="222113" y="2415245"/>
            <a:ext cx="7270756" cy="3134439"/>
            <a:chOff x="0" y="0"/>
            <a:chExt cx="9694342" cy="4179252"/>
          </a:xfrm>
        </p:grpSpPr>
        <p:sp>
          <p:nvSpPr>
            <p:cNvPr name="Freeform 7" id="7"/>
            <p:cNvSpPr/>
            <p:nvPr/>
          </p:nvSpPr>
          <p:spPr>
            <a:xfrm flipH="false" flipV="false" rot="0">
              <a:off x="0" y="0"/>
              <a:ext cx="9694291" cy="4179189"/>
            </a:xfrm>
            <a:custGeom>
              <a:avLst/>
              <a:gdLst/>
              <a:ahLst/>
              <a:cxnLst/>
              <a:rect r="r" b="b" t="t" l="l"/>
              <a:pathLst>
                <a:path h="4179189" w="9694291">
                  <a:moveTo>
                    <a:pt x="0" y="0"/>
                  </a:moveTo>
                  <a:lnTo>
                    <a:pt x="9694291" y="0"/>
                  </a:lnTo>
                  <a:lnTo>
                    <a:pt x="9694291" y="4179189"/>
                  </a:lnTo>
                  <a:lnTo>
                    <a:pt x="0" y="4179189"/>
                  </a:lnTo>
                  <a:lnTo>
                    <a:pt x="0" y="0"/>
                  </a:lnTo>
                  <a:close/>
                </a:path>
              </a:pathLst>
            </a:custGeom>
            <a:blipFill>
              <a:blip r:embed="rId3"/>
              <a:stretch>
                <a:fillRect l="0" t="-8" r="0" b="-10"/>
              </a:stretch>
            </a:blipFill>
          </p:spPr>
        </p:sp>
      </p:grpSp>
      <p:grpSp>
        <p:nvGrpSpPr>
          <p:cNvPr name="Group 8" id="8"/>
          <p:cNvGrpSpPr/>
          <p:nvPr/>
        </p:nvGrpSpPr>
        <p:grpSpPr>
          <a:xfrm rot="0">
            <a:off x="172583" y="2239813"/>
            <a:ext cx="7370445" cy="3750307"/>
            <a:chOff x="0" y="0"/>
            <a:chExt cx="9827260" cy="5000409"/>
          </a:xfrm>
        </p:grpSpPr>
        <p:sp>
          <p:nvSpPr>
            <p:cNvPr name="Freeform 9" id="9"/>
            <p:cNvSpPr/>
            <p:nvPr/>
          </p:nvSpPr>
          <p:spPr>
            <a:xfrm flipH="false" flipV="false" rot="0">
              <a:off x="0" y="0"/>
              <a:ext cx="9826371" cy="5000371"/>
            </a:xfrm>
            <a:custGeom>
              <a:avLst/>
              <a:gdLst/>
              <a:ahLst/>
              <a:cxnLst/>
              <a:rect r="r" b="b" t="t" l="l"/>
              <a:pathLst>
                <a:path h="5000371" w="9826371">
                  <a:moveTo>
                    <a:pt x="101600" y="50800"/>
                  </a:moveTo>
                  <a:lnTo>
                    <a:pt x="101600" y="4949571"/>
                  </a:lnTo>
                  <a:lnTo>
                    <a:pt x="50800" y="4949571"/>
                  </a:lnTo>
                  <a:lnTo>
                    <a:pt x="50800" y="4898771"/>
                  </a:lnTo>
                  <a:lnTo>
                    <a:pt x="9775571" y="4898771"/>
                  </a:lnTo>
                  <a:lnTo>
                    <a:pt x="9775571" y="4949571"/>
                  </a:lnTo>
                  <a:lnTo>
                    <a:pt x="9724771" y="4949571"/>
                  </a:lnTo>
                  <a:lnTo>
                    <a:pt x="9724771" y="50800"/>
                  </a:lnTo>
                  <a:lnTo>
                    <a:pt x="9775571" y="50800"/>
                  </a:lnTo>
                  <a:lnTo>
                    <a:pt x="9775571" y="101600"/>
                  </a:lnTo>
                  <a:lnTo>
                    <a:pt x="50800" y="101600"/>
                  </a:lnTo>
                  <a:lnTo>
                    <a:pt x="50800" y="0"/>
                  </a:lnTo>
                  <a:lnTo>
                    <a:pt x="9775571" y="0"/>
                  </a:lnTo>
                  <a:cubicBezTo>
                    <a:pt x="9803638" y="0"/>
                    <a:pt x="9826371" y="22733"/>
                    <a:pt x="9826371" y="50800"/>
                  </a:cubicBezTo>
                  <a:lnTo>
                    <a:pt x="9826371" y="4949571"/>
                  </a:lnTo>
                  <a:cubicBezTo>
                    <a:pt x="9826371" y="4977638"/>
                    <a:pt x="9803638" y="5000371"/>
                    <a:pt x="9775571" y="5000371"/>
                  </a:cubicBezTo>
                  <a:lnTo>
                    <a:pt x="50800" y="5000371"/>
                  </a:lnTo>
                  <a:cubicBezTo>
                    <a:pt x="22733" y="5000371"/>
                    <a:pt x="0" y="4977638"/>
                    <a:pt x="0" y="4949571"/>
                  </a:cubicBezTo>
                  <a:lnTo>
                    <a:pt x="0" y="50800"/>
                  </a:lnTo>
                  <a:close/>
                </a:path>
              </a:pathLst>
            </a:custGeom>
            <a:solidFill>
              <a:srgbClr val="000000"/>
            </a:solidFill>
          </p:spPr>
        </p:sp>
      </p:grpSp>
      <p:grpSp>
        <p:nvGrpSpPr>
          <p:cNvPr name="Group 10" id="10"/>
          <p:cNvGrpSpPr/>
          <p:nvPr/>
        </p:nvGrpSpPr>
        <p:grpSpPr>
          <a:xfrm rot="0">
            <a:off x="498300" y="6209147"/>
            <a:ext cx="6759807" cy="3818325"/>
            <a:chOff x="0" y="0"/>
            <a:chExt cx="9013076" cy="5091100"/>
          </a:xfrm>
        </p:grpSpPr>
        <p:sp>
          <p:nvSpPr>
            <p:cNvPr name="Freeform 11" id="11"/>
            <p:cNvSpPr/>
            <p:nvPr/>
          </p:nvSpPr>
          <p:spPr>
            <a:xfrm flipH="false" flipV="false" rot="0">
              <a:off x="0" y="0"/>
              <a:ext cx="9013063" cy="5091049"/>
            </a:xfrm>
            <a:custGeom>
              <a:avLst/>
              <a:gdLst/>
              <a:ahLst/>
              <a:cxnLst/>
              <a:rect r="r" b="b" t="t" l="l"/>
              <a:pathLst>
                <a:path h="5091049" w="9013063">
                  <a:moveTo>
                    <a:pt x="0" y="0"/>
                  </a:moveTo>
                  <a:lnTo>
                    <a:pt x="9013063" y="0"/>
                  </a:lnTo>
                  <a:lnTo>
                    <a:pt x="9013063" y="5091049"/>
                  </a:lnTo>
                  <a:lnTo>
                    <a:pt x="0" y="5091049"/>
                  </a:lnTo>
                  <a:lnTo>
                    <a:pt x="0" y="0"/>
                  </a:lnTo>
                  <a:close/>
                </a:path>
              </a:pathLst>
            </a:custGeom>
            <a:blipFill>
              <a:blip r:embed="rId4"/>
              <a:stretch>
                <a:fillRect l="0" t="-90" r="0" b="-91"/>
              </a:stretch>
            </a:blipFill>
          </p:spPr>
        </p:sp>
      </p:grpSp>
      <p:grpSp>
        <p:nvGrpSpPr>
          <p:cNvPr name="Group 12" id="12"/>
          <p:cNvGrpSpPr/>
          <p:nvPr/>
        </p:nvGrpSpPr>
        <p:grpSpPr>
          <a:xfrm rot="0">
            <a:off x="172583" y="6035554"/>
            <a:ext cx="7370445" cy="4124325"/>
            <a:chOff x="0" y="0"/>
            <a:chExt cx="9827260" cy="5499100"/>
          </a:xfrm>
        </p:grpSpPr>
        <p:sp>
          <p:nvSpPr>
            <p:cNvPr name="Freeform 13" id="13"/>
            <p:cNvSpPr/>
            <p:nvPr/>
          </p:nvSpPr>
          <p:spPr>
            <a:xfrm flipH="false" flipV="false" rot="0">
              <a:off x="0" y="0"/>
              <a:ext cx="9826371" cy="5498719"/>
            </a:xfrm>
            <a:custGeom>
              <a:avLst/>
              <a:gdLst/>
              <a:ahLst/>
              <a:cxnLst/>
              <a:rect r="r" b="b" t="t" l="l"/>
              <a:pathLst>
                <a:path h="5498719" w="9826371">
                  <a:moveTo>
                    <a:pt x="101600" y="50800"/>
                  </a:moveTo>
                  <a:lnTo>
                    <a:pt x="101600" y="5447919"/>
                  </a:lnTo>
                  <a:lnTo>
                    <a:pt x="50800" y="5447919"/>
                  </a:lnTo>
                  <a:lnTo>
                    <a:pt x="50800" y="5397119"/>
                  </a:lnTo>
                  <a:lnTo>
                    <a:pt x="9775571" y="5397119"/>
                  </a:lnTo>
                  <a:lnTo>
                    <a:pt x="9775571" y="5447919"/>
                  </a:lnTo>
                  <a:lnTo>
                    <a:pt x="9724771" y="5447919"/>
                  </a:lnTo>
                  <a:lnTo>
                    <a:pt x="9724771" y="50800"/>
                  </a:lnTo>
                  <a:lnTo>
                    <a:pt x="9775571" y="50800"/>
                  </a:lnTo>
                  <a:lnTo>
                    <a:pt x="9775571" y="101600"/>
                  </a:lnTo>
                  <a:lnTo>
                    <a:pt x="50800" y="101600"/>
                  </a:lnTo>
                  <a:lnTo>
                    <a:pt x="50800" y="0"/>
                  </a:lnTo>
                  <a:lnTo>
                    <a:pt x="9775571" y="0"/>
                  </a:lnTo>
                  <a:cubicBezTo>
                    <a:pt x="9803638" y="0"/>
                    <a:pt x="9826371" y="22733"/>
                    <a:pt x="9826371" y="50800"/>
                  </a:cubicBezTo>
                  <a:lnTo>
                    <a:pt x="9826371" y="5447919"/>
                  </a:lnTo>
                  <a:cubicBezTo>
                    <a:pt x="9826371" y="5475986"/>
                    <a:pt x="9803638" y="5498719"/>
                    <a:pt x="9775571" y="5498719"/>
                  </a:cubicBezTo>
                  <a:lnTo>
                    <a:pt x="50800" y="5498719"/>
                  </a:lnTo>
                  <a:cubicBezTo>
                    <a:pt x="22733" y="5498719"/>
                    <a:pt x="0" y="5475986"/>
                    <a:pt x="0" y="5447919"/>
                  </a:cubicBezTo>
                  <a:lnTo>
                    <a:pt x="0" y="50800"/>
                  </a:lnTo>
                  <a:close/>
                </a:path>
              </a:pathLst>
            </a:custGeom>
            <a:solidFill>
              <a:srgbClr val="000000"/>
            </a:solidFill>
          </p:spPr>
        </p:sp>
      </p:grpSp>
      <p:grpSp>
        <p:nvGrpSpPr>
          <p:cNvPr name="Group 14" id="14"/>
          <p:cNvGrpSpPr/>
          <p:nvPr/>
        </p:nvGrpSpPr>
        <p:grpSpPr>
          <a:xfrm rot="0">
            <a:off x="9989601" y="3081214"/>
            <a:ext cx="6855581" cy="3019625"/>
            <a:chOff x="0" y="0"/>
            <a:chExt cx="9140774" cy="4026167"/>
          </a:xfrm>
        </p:grpSpPr>
        <p:sp>
          <p:nvSpPr>
            <p:cNvPr name="Freeform 15" id="15"/>
            <p:cNvSpPr/>
            <p:nvPr/>
          </p:nvSpPr>
          <p:spPr>
            <a:xfrm flipH="false" flipV="false" rot="0">
              <a:off x="0" y="0"/>
              <a:ext cx="9140825" cy="4026154"/>
            </a:xfrm>
            <a:custGeom>
              <a:avLst/>
              <a:gdLst/>
              <a:ahLst/>
              <a:cxnLst/>
              <a:rect r="r" b="b" t="t" l="l"/>
              <a:pathLst>
                <a:path h="4026154" w="9140825">
                  <a:moveTo>
                    <a:pt x="0" y="0"/>
                  </a:moveTo>
                  <a:lnTo>
                    <a:pt x="9140825" y="0"/>
                  </a:lnTo>
                  <a:lnTo>
                    <a:pt x="9140825" y="4026154"/>
                  </a:lnTo>
                  <a:lnTo>
                    <a:pt x="0" y="4026154"/>
                  </a:lnTo>
                  <a:lnTo>
                    <a:pt x="0" y="0"/>
                  </a:lnTo>
                  <a:close/>
                </a:path>
              </a:pathLst>
            </a:custGeom>
            <a:blipFill>
              <a:blip r:embed="rId5"/>
              <a:stretch>
                <a:fillRect l="-31" t="0" r="-30" b="0"/>
              </a:stretch>
            </a:blipFill>
          </p:spPr>
        </p:sp>
      </p:grpSp>
      <p:grpSp>
        <p:nvGrpSpPr>
          <p:cNvPr name="Group 16" id="16"/>
          <p:cNvGrpSpPr/>
          <p:nvPr/>
        </p:nvGrpSpPr>
        <p:grpSpPr>
          <a:xfrm rot="0">
            <a:off x="9728644" y="2640616"/>
            <a:ext cx="7400906" cy="3720446"/>
            <a:chOff x="0" y="0"/>
            <a:chExt cx="9867875" cy="4960595"/>
          </a:xfrm>
        </p:grpSpPr>
        <p:sp>
          <p:nvSpPr>
            <p:cNvPr name="Freeform 17" id="17"/>
            <p:cNvSpPr/>
            <p:nvPr/>
          </p:nvSpPr>
          <p:spPr>
            <a:xfrm flipH="false" flipV="false" rot="0">
              <a:off x="0" y="0"/>
              <a:ext cx="9867900" cy="4960366"/>
            </a:xfrm>
            <a:custGeom>
              <a:avLst/>
              <a:gdLst/>
              <a:ahLst/>
              <a:cxnLst/>
              <a:rect r="r" b="b" t="t" l="l"/>
              <a:pathLst>
                <a:path h="4960366" w="9867900">
                  <a:moveTo>
                    <a:pt x="101600" y="50800"/>
                  </a:moveTo>
                  <a:lnTo>
                    <a:pt x="101600" y="4909566"/>
                  </a:lnTo>
                  <a:lnTo>
                    <a:pt x="50800" y="4909566"/>
                  </a:lnTo>
                  <a:lnTo>
                    <a:pt x="50800" y="4858766"/>
                  </a:lnTo>
                  <a:lnTo>
                    <a:pt x="9817100" y="4858766"/>
                  </a:lnTo>
                  <a:lnTo>
                    <a:pt x="9817100" y="4909566"/>
                  </a:lnTo>
                  <a:lnTo>
                    <a:pt x="9766300" y="4909566"/>
                  </a:lnTo>
                  <a:lnTo>
                    <a:pt x="9766300" y="50800"/>
                  </a:lnTo>
                  <a:lnTo>
                    <a:pt x="9817100" y="50800"/>
                  </a:lnTo>
                  <a:lnTo>
                    <a:pt x="9817100" y="101600"/>
                  </a:lnTo>
                  <a:lnTo>
                    <a:pt x="50800" y="101600"/>
                  </a:lnTo>
                  <a:lnTo>
                    <a:pt x="50800" y="0"/>
                  </a:lnTo>
                  <a:lnTo>
                    <a:pt x="9817100" y="0"/>
                  </a:lnTo>
                  <a:cubicBezTo>
                    <a:pt x="9845167" y="0"/>
                    <a:pt x="9867900" y="22733"/>
                    <a:pt x="9867900" y="50800"/>
                  </a:cubicBezTo>
                  <a:lnTo>
                    <a:pt x="9867900" y="4909566"/>
                  </a:lnTo>
                  <a:cubicBezTo>
                    <a:pt x="9867900" y="4937633"/>
                    <a:pt x="9845167" y="4960366"/>
                    <a:pt x="9817100" y="4960366"/>
                  </a:cubicBezTo>
                  <a:lnTo>
                    <a:pt x="50800" y="4960366"/>
                  </a:lnTo>
                  <a:cubicBezTo>
                    <a:pt x="22733" y="4960366"/>
                    <a:pt x="0" y="4937633"/>
                    <a:pt x="0" y="4909566"/>
                  </a:cubicBezTo>
                  <a:lnTo>
                    <a:pt x="0" y="50800"/>
                  </a:lnTo>
                  <a:close/>
                </a:path>
              </a:pathLst>
            </a:custGeom>
            <a:solidFill>
              <a:srgbClr val="000000"/>
            </a:solidFill>
          </p:spPr>
        </p:sp>
      </p:grpSp>
      <p:grpSp>
        <p:nvGrpSpPr>
          <p:cNvPr name="Group 18" id="18"/>
          <p:cNvGrpSpPr/>
          <p:nvPr/>
        </p:nvGrpSpPr>
        <p:grpSpPr>
          <a:xfrm rot="0">
            <a:off x="9778565" y="6596825"/>
            <a:ext cx="7303646" cy="3214354"/>
            <a:chOff x="0" y="0"/>
            <a:chExt cx="9738195" cy="4285806"/>
          </a:xfrm>
        </p:grpSpPr>
        <p:sp>
          <p:nvSpPr>
            <p:cNvPr name="Freeform 19" id="19"/>
            <p:cNvSpPr/>
            <p:nvPr/>
          </p:nvSpPr>
          <p:spPr>
            <a:xfrm flipH="false" flipV="false" rot="0">
              <a:off x="0" y="0"/>
              <a:ext cx="9738233" cy="4285742"/>
            </a:xfrm>
            <a:custGeom>
              <a:avLst/>
              <a:gdLst/>
              <a:ahLst/>
              <a:cxnLst/>
              <a:rect r="r" b="b" t="t" l="l"/>
              <a:pathLst>
                <a:path h="4285742" w="9738233">
                  <a:moveTo>
                    <a:pt x="0" y="0"/>
                  </a:moveTo>
                  <a:lnTo>
                    <a:pt x="9738233" y="0"/>
                  </a:lnTo>
                  <a:lnTo>
                    <a:pt x="9738233" y="4285742"/>
                  </a:lnTo>
                  <a:lnTo>
                    <a:pt x="0" y="4285742"/>
                  </a:lnTo>
                  <a:lnTo>
                    <a:pt x="0" y="0"/>
                  </a:lnTo>
                  <a:close/>
                </a:path>
              </a:pathLst>
            </a:custGeom>
            <a:blipFill>
              <a:blip r:embed="rId6"/>
              <a:stretch>
                <a:fillRect l="0" t="-154" r="0" b="-155"/>
              </a:stretch>
            </a:blipFill>
          </p:spPr>
        </p:sp>
      </p:grpSp>
      <p:grpSp>
        <p:nvGrpSpPr>
          <p:cNvPr name="Group 20" id="20"/>
          <p:cNvGrpSpPr/>
          <p:nvPr/>
        </p:nvGrpSpPr>
        <p:grpSpPr>
          <a:xfrm rot="0">
            <a:off x="9729054" y="6428527"/>
            <a:ext cx="7398982" cy="3590887"/>
            <a:chOff x="0" y="0"/>
            <a:chExt cx="9865309" cy="4787849"/>
          </a:xfrm>
        </p:grpSpPr>
        <p:sp>
          <p:nvSpPr>
            <p:cNvPr name="Freeform 21" id="21"/>
            <p:cNvSpPr/>
            <p:nvPr/>
          </p:nvSpPr>
          <p:spPr>
            <a:xfrm flipH="false" flipV="false" rot="0">
              <a:off x="0" y="0"/>
              <a:ext cx="9864852" cy="4787900"/>
            </a:xfrm>
            <a:custGeom>
              <a:avLst/>
              <a:gdLst/>
              <a:ahLst/>
              <a:cxnLst/>
              <a:rect r="r" b="b" t="t" l="l"/>
              <a:pathLst>
                <a:path h="4787900" w="9864852">
                  <a:moveTo>
                    <a:pt x="101600" y="50800"/>
                  </a:moveTo>
                  <a:lnTo>
                    <a:pt x="101600" y="4737100"/>
                  </a:lnTo>
                  <a:lnTo>
                    <a:pt x="50800" y="4737100"/>
                  </a:lnTo>
                  <a:lnTo>
                    <a:pt x="50800" y="4686300"/>
                  </a:lnTo>
                  <a:lnTo>
                    <a:pt x="9814052" y="4686300"/>
                  </a:lnTo>
                  <a:lnTo>
                    <a:pt x="9814052" y="4737100"/>
                  </a:lnTo>
                  <a:lnTo>
                    <a:pt x="9763252" y="4737100"/>
                  </a:lnTo>
                  <a:lnTo>
                    <a:pt x="9763252" y="50800"/>
                  </a:lnTo>
                  <a:lnTo>
                    <a:pt x="9814052" y="50800"/>
                  </a:lnTo>
                  <a:lnTo>
                    <a:pt x="9814052" y="101600"/>
                  </a:lnTo>
                  <a:lnTo>
                    <a:pt x="50800" y="101600"/>
                  </a:lnTo>
                  <a:lnTo>
                    <a:pt x="50800" y="0"/>
                  </a:lnTo>
                  <a:lnTo>
                    <a:pt x="9814052" y="0"/>
                  </a:lnTo>
                  <a:cubicBezTo>
                    <a:pt x="9842119" y="0"/>
                    <a:pt x="9864852" y="22733"/>
                    <a:pt x="9864852" y="50800"/>
                  </a:cubicBezTo>
                  <a:lnTo>
                    <a:pt x="9864852" y="4737100"/>
                  </a:lnTo>
                  <a:cubicBezTo>
                    <a:pt x="9864852" y="4765167"/>
                    <a:pt x="9842119" y="4787900"/>
                    <a:pt x="9814052" y="4787900"/>
                  </a:cubicBezTo>
                  <a:lnTo>
                    <a:pt x="50800" y="4787900"/>
                  </a:lnTo>
                  <a:cubicBezTo>
                    <a:pt x="22733" y="4787900"/>
                    <a:pt x="0" y="4765167"/>
                    <a:pt x="0" y="4737100"/>
                  </a:cubicBezTo>
                  <a:lnTo>
                    <a:pt x="0" y="50800"/>
                  </a:lnTo>
                  <a:close/>
                </a:path>
              </a:pathLst>
            </a:custGeom>
            <a:solidFill>
              <a:srgbClr val="000000"/>
            </a:solidFill>
          </p:spPr>
        </p:sp>
      </p:grpSp>
      <p:sp>
        <p:nvSpPr>
          <p:cNvPr name="TextBox 22" id="22"/>
          <p:cNvSpPr txBox="true"/>
          <p:nvPr/>
        </p:nvSpPr>
        <p:spPr>
          <a:xfrm rot="0">
            <a:off x="3374736" y="60493"/>
            <a:ext cx="9658350" cy="1273178"/>
          </a:xfrm>
          <a:prstGeom prst="rect">
            <a:avLst/>
          </a:prstGeom>
        </p:spPr>
        <p:txBody>
          <a:bodyPr anchor="t" rtlCol="false" tIns="0" lIns="0" bIns="0" rIns="0">
            <a:spAutoFit/>
          </a:bodyPr>
          <a:lstStyle/>
          <a:p>
            <a:pPr algn="l">
              <a:lnSpc>
                <a:spcPts val="9540"/>
              </a:lnSpc>
            </a:pPr>
            <a:r>
              <a:rPr lang="en-US" sz="7950" spc="-484">
                <a:solidFill>
                  <a:srgbClr val="FFFFFF"/>
                </a:solidFill>
                <a:latin typeface="Arial"/>
                <a:ea typeface="Arial"/>
                <a:cs typeface="Arial"/>
                <a:sym typeface="Arial"/>
              </a:rPr>
              <a:t>Home Page</a:t>
            </a:r>
          </a:p>
        </p:txBody>
      </p:sp>
      <p:sp>
        <p:nvSpPr>
          <p:cNvPr name="TextBox 23" id="23"/>
          <p:cNvSpPr txBox="true"/>
          <p:nvPr/>
        </p:nvSpPr>
        <p:spPr>
          <a:xfrm rot="0">
            <a:off x="7904874" y="1533754"/>
            <a:ext cx="9781537" cy="918848"/>
          </a:xfrm>
          <a:prstGeom prst="rect">
            <a:avLst/>
          </a:prstGeom>
        </p:spPr>
        <p:txBody>
          <a:bodyPr anchor="t" rtlCol="false" tIns="0" lIns="0" bIns="0" rIns="0">
            <a:spAutoFit/>
          </a:bodyPr>
          <a:lstStyle/>
          <a:p>
            <a:pPr algn="just">
              <a:lnSpc>
                <a:spcPts val="2250"/>
              </a:lnSpc>
            </a:pPr>
            <a:r>
              <a:rPr lang="en-US" sz="1600">
                <a:solidFill>
                  <a:srgbClr val="000000"/>
                </a:solidFill>
                <a:latin typeface="Arial"/>
                <a:ea typeface="Arial"/>
                <a:cs typeface="Arial"/>
                <a:sym typeface="Arial"/>
              </a:rPr>
              <a:t>The homepage of  Zerodha features the secure, user-first investment platform, which provides a wide variety of  financial products, educational resources such as Varsity, and transparent services, which motivate people to invest and learn with ease.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77324" y="120853"/>
            <a:ext cx="10455278" cy="1330328"/>
            <a:chOff x="0" y="0"/>
            <a:chExt cx="13940371" cy="1773771"/>
          </a:xfrm>
        </p:grpSpPr>
        <p:sp>
          <p:nvSpPr>
            <p:cNvPr name="Freeform 3" id="3"/>
            <p:cNvSpPr/>
            <p:nvPr/>
          </p:nvSpPr>
          <p:spPr>
            <a:xfrm flipH="false" flipV="false" rot="0">
              <a:off x="0" y="0"/>
              <a:ext cx="13939774" cy="1773682"/>
            </a:xfrm>
            <a:custGeom>
              <a:avLst/>
              <a:gdLst/>
              <a:ahLst/>
              <a:cxnLst/>
              <a:rect r="r" b="b" t="t" l="l"/>
              <a:pathLst>
                <a:path h="1773682" w="13939774">
                  <a:moveTo>
                    <a:pt x="13939774" y="1773682"/>
                  </a:moveTo>
                  <a:lnTo>
                    <a:pt x="0" y="1773682"/>
                  </a:lnTo>
                  <a:lnTo>
                    <a:pt x="0" y="0"/>
                  </a:lnTo>
                  <a:lnTo>
                    <a:pt x="13939774" y="0"/>
                  </a:lnTo>
                  <a:lnTo>
                    <a:pt x="13939774" y="1773682"/>
                  </a:lnTo>
                  <a:close/>
                </a:path>
              </a:pathLst>
            </a:custGeom>
            <a:solidFill>
              <a:srgbClr val="2D4DE6"/>
            </a:solidFill>
          </p:spPr>
        </p:sp>
      </p:grpSp>
      <p:grpSp>
        <p:nvGrpSpPr>
          <p:cNvPr name="Group 4" id="4"/>
          <p:cNvGrpSpPr/>
          <p:nvPr/>
        </p:nvGrpSpPr>
        <p:grpSpPr>
          <a:xfrm rot="0">
            <a:off x="15776010" y="219742"/>
            <a:ext cx="2435743" cy="811368"/>
            <a:chOff x="0" y="0"/>
            <a:chExt cx="3247657" cy="1081824"/>
          </a:xfrm>
        </p:grpSpPr>
        <p:sp>
          <p:nvSpPr>
            <p:cNvPr name="Freeform 5" id="5"/>
            <p:cNvSpPr/>
            <p:nvPr/>
          </p:nvSpPr>
          <p:spPr>
            <a:xfrm flipH="false" flipV="false" rot="0">
              <a:off x="0" y="0"/>
              <a:ext cx="3247644" cy="1081786"/>
            </a:xfrm>
            <a:custGeom>
              <a:avLst/>
              <a:gdLst/>
              <a:ahLst/>
              <a:cxnLst/>
              <a:rect r="r" b="b" t="t" l="l"/>
              <a:pathLst>
                <a:path h="1081786" w="3247644">
                  <a:moveTo>
                    <a:pt x="0" y="0"/>
                  </a:moveTo>
                  <a:lnTo>
                    <a:pt x="3247644" y="0"/>
                  </a:lnTo>
                  <a:lnTo>
                    <a:pt x="3247644" y="1081786"/>
                  </a:lnTo>
                  <a:lnTo>
                    <a:pt x="0" y="1081786"/>
                  </a:lnTo>
                  <a:lnTo>
                    <a:pt x="0" y="0"/>
                  </a:lnTo>
                  <a:close/>
                </a:path>
              </a:pathLst>
            </a:custGeom>
            <a:blipFill>
              <a:blip r:embed="rId2"/>
              <a:stretch>
                <a:fillRect l="-139" t="0" r="-139" b="-3"/>
              </a:stretch>
            </a:blipFill>
          </p:spPr>
        </p:sp>
      </p:grpSp>
      <p:grpSp>
        <p:nvGrpSpPr>
          <p:cNvPr name="Group 6" id="6"/>
          <p:cNvGrpSpPr/>
          <p:nvPr/>
        </p:nvGrpSpPr>
        <p:grpSpPr>
          <a:xfrm rot="0">
            <a:off x="125940" y="1692735"/>
            <a:ext cx="8066465" cy="3372641"/>
            <a:chOff x="0" y="0"/>
            <a:chExt cx="10755287" cy="4496854"/>
          </a:xfrm>
        </p:grpSpPr>
        <p:sp>
          <p:nvSpPr>
            <p:cNvPr name="Freeform 7" id="7"/>
            <p:cNvSpPr/>
            <p:nvPr/>
          </p:nvSpPr>
          <p:spPr>
            <a:xfrm flipH="false" flipV="false" rot="0">
              <a:off x="0" y="0"/>
              <a:ext cx="10755249" cy="4496816"/>
            </a:xfrm>
            <a:custGeom>
              <a:avLst/>
              <a:gdLst/>
              <a:ahLst/>
              <a:cxnLst/>
              <a:rect r="r" b="b" t="t" l="l"/>
              <a:pathLst>
                <a:path h="4496816" w="10755249">
                  <a:moveTo>
                    <a:pt x="0" y="0"/>
                  </a:moveTo>
                  <a:lnTo>
                    <a:pt x="10755249" y="0"/>
                  </a:lnTo>
                  <a:lnTo>
                    <a:pt x="10755249" y="4496816"/>
                  </a:lnTo>
                  <a:lnTo>
                    <a:pt x="0" y="4496816"/>
                  </a:lnTo>
                  <a:lnTo>
                    <a:pt x="0" y="0"/>
                  </a:lnTo>
                  <a:close/>
                </a:path>
              </a:pathLst>
            </a:custGeom>
            <a:blipFill>
              <a:blip r:embed="rId3"/>
              <a:stretch>
                <a:fillRect l="0" t="-12" r="0" b="-13"/>
              </a:stretch>
            </a:blipFill>
          </p:spPr>
        </p:sp>
      </p:grpSp>
      <p:grpSp>
        <p:nvGrpSpPr>
          <p:cNvPr name="Group 8" id="8"/>
          <p:cNvGrpSpPr/>
          <p:nvPr/>
        </p:nvGrpSpPr>
        <p:grpSpPr>
          <a:xfrm rot="0">
            <a:off x="76429" y="1552242"/>
            <a:ext cx="8162896" cy="3867121"/>
            <a:chOff x="0" y="0"/>
            <a:chExt cx="10883862" cy="5156162"/>
          </a:xfrm>
        </p:grpSpPr>
        <p:sp>
          <p:nvSpPr>
            <p:cNvPr name="Freeform 9" id="9"/>
            <p:cNvSpPr/>
            <p:nvPr/>
          </p:nvSpPr>
          <p:spPr>
            <a:xfrm flipH="false" flipV="false" rot="0">
              <a:off x="0" y="0"/>
              <a:ext cx="10883900" cy="5155819"/>
            </a:xfrm>
            <a:custGeom>
              <a:avLst/>
              <a:gdLst/>
              <a:ahLst/>
              <a:cxnLst/>
              <a:rect r="r" b="b" t="t" l="l"/>
              <a:pathLst>
                <a:path h="5155819" w="10883900">
                  <a:moveTo>
                    <a:pt x="101600" y="50800"/>
                  </a:moveTo>
                  <a:lnTo>
                    <a:pt x="101600" y="5105019"/>
                  </a:lnTo>
                  <a:lnTo>
                    <a:pt x="50800" y="5105019"/>
                  </a:lnTo>
                  <a:lnTo>
                    <a:pt x="50800" y="5054219"/>
                  </a:lnTo>
                  <a:lnTo>
                    <a:pt x="10833100" y="5054219"/>
                  </a:lnTo>
                  <a:lnTo>
                    <a:pt x="10833100" y="5105019"/>
                  </a:lnTo>
                  <a:lnTo>
                    <a:pt x="10782300" y="5105019"/>
                  </a:lnTo>
                  <a:lnTo>
                    <a:pt x="10782300" y="50800"/>
                  </a:lnTo>
                  <a:lnTo>
                    <a:pt x="10833100" y="50800"/>
                  </a:lnTo>
                  <a:lnTo>
                    <a:pt x="10833100" y="101600"/>
                  </a:lnTo>
                  <a:lnTo>
                    <a:pt x="50800" y="101600"/>
                  </a:lnTo>
                  <a:lnTo>
                    <a:pt x="50800" y="0"/>
                  </a:lnTo>
                  <a:lnTo>
                    <a:pt x="10833100" y="0"/>
                  </a:lnTo>
                  <a:cubicBezTo>
                    <a:pt x="10861167" y="0"/>
                    <a:pt x="10883900" y="22733"/>
                    <a:pt x="10883900" y="50800"/>
                  </a:cubicBezTo>
                  <a:lnTo>
                    <a:pt x="10883900" y="5105019"/>
                  </a:lnTo>
                  <a:cubicBezTo>
                    <a:pt x="10883900" y="5133086"/>
                    <a:pt x="10861167" y="5155819"/>
                    <a:pt x="10833100" y="5155819"/>
                  </a:cubicBezTo>
                  <a:lnTo>
                    <a:pt x="50800" y="5155819"/>
                  </a:lnTo>
                  <a:cubicBezTo>
                    <a:pt x="22733" y="5155819"/>
                    <a:pt x="0" y="5133086"/>
                    <a:pt x="0" y="5105019"/>
                  </a:cubicBezTo>
                  <a:lnTo>
                    <a:pt x="0" y="50800"/>
                  </a:lnTo>
                  <a:close/>
                </a:path>
              </a:pathLst>
            </a:custGeom>
            <a:solidFill>
              <a:srgbClr val="000000"/>
            </a:solidFill>
          </p:spPr>
        </p:sp>
      </p:grpSp>
      <p:grpSp>
        <p:nvGrpSpPr>
          <p:cNvPr name="Group 10" id="10"/>
          <p:cNvGrpSpPr/>
          <p:nvPr/>
        </p:nvGrpSpPr>
        <p:grpSpPr>
          <a:xfrm rot="0">
            <a:off x="265024" y="5667442"/>
            <a:ext cx="7688971" cy="4184675"/>
            <a:chOff x="0" y="0"/>
            <a:chExt cx="10251961" cy="5579567"/>
          </a:xfrm>
        </p:grpSpPr>
        <p:sp>
          <p:nvSpPr>
            <p:cNvPr name="Freeform 11" id="11"/>
            <p:cNvSpPr/>
            <p:nvPr/>
          </p:nvSpPr>
          <p:spPr>
            <a:xfrm flipH="false" flipV="false" rot="0">
              <a:off x="0" y="0"/>
              <a:ext cx="10251948" cy="5579618"/>
            </a:xfrm>
            <a:custGeom>
              <a:avLst/>
              <a:gdLst/>
              <a:ahLst/>
              <a:cxnLst/>
              <a:rect r="r" b="b" t="t" l="l"/>
              <a:pathLst>
                <a:path h="5579618" w="10251948">
                  <a:moveTo>
                    <a:pt x="0" y="0"/>
                  </a:moveTo>
                  <a:lnTo>
                    <a:pt x="10251948" y="0"/>
                  </a:lnTo>
                  <a:lnTo>
                    <a:pt x="10251948" y="5579618"/>
                  </a:lnTo>
                  <a:lnTo>
                    <a:pt x="0" y="5579618"/>
                  </a:lnTo>
                  <a:lnTo>
                    <a:pt x="0" y="0"/>
                  </a:lnTo>
                  <a:close/>
                </a:path>
              </a:pathLst>
            </a:custGeom>
            <a:blipFill>
              <a:blip r:embed="rId4"/>
              <a:stretch>
                <a:fillRect l="-68" t="0" r="-68" b="0"/>
              </a:stretch>
            </a:blipFill>
          </p:spPr>
        </p:sp>
      </p:grpSp>
      <p:grpSp>
        <p:nvGrpSpPr>
          <p:cNvPr name="Group 12" id="12"/>
          <p:cNvGrpSpPr/>
          <p:nvPr/>
        </p:nvGrpSpPr>
        <p:grpSpPr>
          <a:xfrm rot="0">
            <a:off x="76429" y="5551608"/>
            <a:ext cx="8162896" cy="4540863"/>
            <a:chOff x="0" y="0"/>
            <a:chExt cx="10883862" cy="6054484"/>
          </a:xfrm>
        </p:grpSpPr>
        <p:sp>
          <p:nvSpPr>
            <p:cNvPr name="Freeform 13" id="13"/>
            <p:cNvSpPr/>
            <p:nvPr/>
          </p:nvSpPr>
          <p:spPr>
            <a:xfrm flipH="false" flipV="false" rot="0">
              <a:off x="0" y="0"/>
              <a:ext cx="10883900" cy="6054471"/>
            </a:xfrm>
            <a:custGeom>
              <a:avLst/>
              <a:gdLst/>
              <a:ahLst/>
              <a:cxnLst/>
              <a:rect r="r" b="b" t="t" l="l"/>
              <a:pathLst>
                <a:path h="6054471" w="10883900">
                  <a:moveTo>
                    <a:pt x="101600" y="50800"/>
                  </a:moveTo>
                  <a:lnTo>
                    <a:pt x="101600" y="6003671"/>
                  </a:lnTo>
                  <a:lnTo>
                    <a:pt x="50800" y="6003671"/>
                  </a:lnTo>
                  <a:lnTo>
                    <a:pt x="50800" y="5952871"/>
                  </a:lnTo>
                  <a:lnTo>
                    <a:pt x="10833100" y="5952871"/>
                  </a:lnTo>
                  <a:lnTo>
                    <a:pt x="10833100" y="6003671"/>
                  </a:lnTo>
                  <a:lnTo>
                    <a:pt x="10782300" y="6003671"/>
                  </a:lnTo>
                  <a:lnTo>
                    <a:pt x="10782300" y="50800"/>
                  </a:lnTo>
                  <a:lnTo>
                    <a:pt x="10833100" y="50800"/>
                  </a:lnTo>
                  <a:lnTo>
                    <a:pt x="10833100" y="101600"/>
                  </a:lnTo>
                  <a:lnTo>
                    <a:pt x="50800" y="101600"/>
                  </a:lnTo>
                  <a:lnTo>
                    <a:pt x="50800" y="0"/>
                  </a:lnTo>
                  <a:lnTo>
                    <a:pt x="10833100" y="0"/>
                  </a:lnTo>
                  <a:cubicBezTo>
                    <a:pt x="10861167" y="0"/>
                    <a:pt x="10883900" y="22733"/>
                    <a:pt x="10883900" y="50800"/>
                  </a:cubicBezTo>
                  <a:lnTo>
                    <a:pt x="10883900" y="6003671"/>
                  </a:lnTo>
                  <a:cubicBezTo>
                    <a:pt x="10883900" y="6031738"/>
                    <a:pt x="10861167" y="6054471"/>
                    <a:pt x="10833100" y="6054471"/>
                  </a:cubicBezTo>
                  <a:lnTo>
                    <a:pt x="50800" y="6054471"/>
                  </a:lnTo>
                  <a:cubicBezTo>
                    <a:pt x="22733" y="6054471"/>
                    <a:pt x="0" y="6031738"/>
                    <a:pt x="0" y="6003671"/>
                  </a:cubicBezTo>
                  <a:lnTo>
                    <a:pt x="0" y="50800"/>
                  </a:lnTo>
                  <a:close/>
                </a:path>
              </a:pathLst>
            </a:custGeom>
            <a:solidFill>
              <a:srgbClr val="000000"/>
            </a:solidFill>
          </p:spPr>
        </p:sp>
      </p:grpSp>
      <p:grpSp>
        <p:nvGrpSpPr>
          <p:cNvPr name="Group 14" id="14"/>
          <p:cNvGrpSpPr/>
          <p:nvPr/>
        </p:nvGrpSpPr>
        <p:grpSpPr>
          <a:xfrm rot="0">
            <a:off x="8348901" y="3289430"/>
            <a:ext cx="9774326" cy="4851254"/>
            <a:chOff x="0" y="0"/>
            <a:chExt cx="13032435" cy="6468339"/>
          </a:xfrm>
        </p:grpSpPr>
        <p:sp>
          <p:nvSpPr>
            <p:cNvPr name="Freeform 15" id="15"/>
            <p:cNvSpPr/>
            <p:nvPr/>
          </p:nvSpPr>
          <p:spPr>
            <a:xfrm flipH="false" flipV="false" rot="0">
              <a:off x="0" y="0"/>
              <a:ext cx="13032487" cy="6468364"/>
            </a:xfrm>
            <a:custGeom>
              <a:avLst/>
              <a:gdLst/>
              <a:ahLst/>
              <a:cxnLst/>
              <a:rect r="r" b="b" t="t" l="l"/>
              <a:pathLst>
                <a:path h="6468364" w="13032487">
                  <a:moveTo>
                    <a:pt x="0" y="0"/>
                  </a:moveTo>
                  <a:lnTo>
                    <a:pt x="13032487" y="0"/>
                  </a:lnTo>
                  <a:lnTo>
                    <a:pt x="13032487" y="6468364"/>
                  </a:lnTo>
                  <a:lnTo>
                    <a:pt x="0" y="6468364"/>
                  </a:lnTo>
                  <a:lnTo>
                    <a:pt x="0" y="0"/>
                  </a:lnTo>
                  <a:close/>
                </a:path>
              </a:pathLst>
            </a:custGeom>
            <a:blipFill>
              <a:blip r:embed="rId5"/>
              <a:stretch>
                <a:fillRect l="-13" t="0" r="-13" b="0"/>
              </a:stretch>
            </a:blipFill>
          </p:spPr>
        </p:sp>
      </p:grpSp>
      <p:grpSp>
        <p:nvGrpSpPr>
          <p:cNvPr name="Group 16" id="16"/>
          <p:cNvGrpSpPr/>
          <p:nvPr/>
        </p:nvGrpSpPr>
        <p:grpSpPr>
          <a:xfrm rot="0">
            <a:off x="8299371" y="3239900"/>
            <a:ext cx="9873615" cy="4950457"/>
            <a:chOff x="0" y="0"/>
            <a:chExt cx="13164820" cy="6600609"/>
          </a:xfrm>
        </p:grpSpPr>
        <p:sp>
          <p:nvSpPr>
            <p:cNvPr name="Freeform 17" id="17"/>
            <p:cNvSpPr/>
            <p:nvPr/>
          </p:nvSpPr>
          <p:spPr>
            <a:xfrm flipH="false" flipV="false" rot="0">
              <a:off x="0" y="0"/>
              <a:ext cx="13164313" cy="6600190"/>
            </a:xfrm>
            <a:custGeom>
              <a:avLst/>
              <a:gdLst/>
              <a:ahLst/>
              <a:cxnLst/>
              <a:rect r="r" b="b" t="t" l="l"/>
              <a:pathLst>
                <a:path h="6600190" w="13164313">
                  <a:moveTo>
                    <a:pt x="101600" y="50800"/>
                  </a:moveTo>
                  <a:lnTo>
                    <a:pt x="101600" y="6549390"/>
                  </a:lnTo>
                  <a:lnTo>
                    <a:pt x="50800" y="6549390"/>
                  </a:lnTo>
                  <a:lnTo>
                    <a:pt x="50800" y="6498590"/>
                  </a:lnTo>
                  <a:lnTo>
                    <a:pt x="13113513" y="6498590"/>
                  </a:lnTo>
                  <a:lnTo>
                    <a:pt x="13113513" y="6549390"/>
                  </a:lnTo>
                  <a:lnTo>
                    <a:pt x="13062713" y="6549390"/>
                  </a:lnTo>
                  <a:lnTo>
                    <a:pt x="13062713" y="50800"/>
                  </a:lnTo>
                  <a:lnTo>
                    <a:pt x="13113513" y="50800"/>
                  </a:lnTo>
                  <a:lnTo>
                    <a:pt x="13113513" y="101600"/>
                  </a:lnTo>
                  <a:lnTo>
                    <a:pt x="50800" y="101600"/>
                  </a:lnTo>
                  <a:lnTo>
                    <a:pt x="50800" y="0"/>
                  </a:lnTo>
                  <a:lnTo>
                    <a:pt x="13113513" y="0"/>
                  </a:lnTo>
                  <a:cubicBezTo>
                    <a:pt x="13141579" y="0"/>
                    <a:pt x="13164313" y="22733"/>
                    <a:pt x="13164313" y="50800"/>
                  </a:cubicBezTo>
                  <a:lnTo>
                    <a:pt x="13164313" y="6549390"/>
                  </a:lnTo>
                  <a:cubicBezTo>
                    <a:pt x="13164313" y="6577457"/>
                    <a:pt x="13141579" y="6600190"/>
                    <a:pt x="13113513" y="6600190"/>
                  </a:cubicBezTo>
                  <a:lnTo>
                    <a:pt x="50800" y="6600190"/>
                  </a:lnTo>
                  <a:cubicBezTo>
                    <a:pt x="22733" y="6600190"/>
                    <a:pt x="0" y="6577457"/>
                    <a:pt x="0" y="6549390"/>
                  </a:cubicBezTo>
                  <a:lnTo>
                    <a:pt x="0" y="50800"/>
                  </a:lnTo>
                  <a:close/>
                </a:path>
              </a:pathLst>
            </a:custGeom>
            <a:solidFill>
              <a:srgbClr val="000000"/>
            </a:solidFill>
          </p:spPr>
        </p:sp>
      </p:grpSp>
      <p:sp>
        <p:nvSpPr>
          <p:cNvPr name="TextBox 18" id="18"/>
          <p:cNvSpPr txBox="true"/>
          <p:nvPr/>
        </p:nvSpPr>
        <p:spPr>
          <a:xfrm rot="0">
            <a:off x="4245007" y="60493"/>
            <a:ext cx="7345680" cy="1273178"/>
          </a:xfrm>
          <a:prstGeom prst="rect">
            <a:avLst/>
          </a:prstGeom>
        </p:spPr>
        <p:txBody>
          <a:bodyPr anchor="t" rtlCol="false" tIns="0" lIns="0" bIns="0" rIns="0">
            <a:spAutoFit/>
          </a:bodyPr>
          <a:lstStyle/>
          <a:p>
            <a:pPr algn="l">
              <a:lnSpc>
                <a:spcPts val="9540"/>
              </a:lnSpc>
            </a:pPr>
            <a:r>
              <a:rPr lang="en-US" sz="7950" spc="-330">
                <a:solidFill>
                  <a:srgbClr val="FFFFFF"/>
                </a:solidFill>
                <a:latin typeface="Arial"/>
                <a:ea typeface="Arial"/>
                <a:cs typeface="Arial"/>
                <a:sym typeface="Arial"/>
              </a:rPr>
              <a:t>Support Portal</a:t>
            </a:r>
          </a:p>
        </p:txBody>
      </p:sp>
      <p:sp>
        <p:nvSpPr>
          <p:cNvPr name="TextBox 19" id="19"/>
          <p:cNvSpPr txBox="true"/>
          <p:nvPr/>
        </p:nvSpPr>
        <p:spPr>
          <a:xfrm rot="0">
            <a:off x="8328117" y="1960226"/>
            <a:ext cx="9384668" cy="867413"/>
          </a:xfrm>
          <a:prstGeom prst="rect">
            <a:avLst/>
          </a:prstGeom>
        </p:spPr>
        <p:txBody>
          <a:bodyPr anchor="t" rtlCol="false" tIns="0" lIns="0" bIns="0" rIns="0">
            <a:spAutoFit/>
          </a:bodyPr>
          <a:lstStyle/>
          <a:p>
            <a:pPr algn="l">
              <a:lnSpc>
                <a:spcPts val="3137"/>
              </a:lnSpc>
            </a:pPr>
            <a:r>
              <a:rPr lang="en-US" sz="2250">
                <a:solidFill>
                  <a:srgbClr val="000000"/>
                </a:solidFill>
                <a:latin typeface="Arial"/>
                <a:ea typeface="Arial"/>
                <a:cs typeface="Arial"/>
                <a:sym typeface="Arial"/>
              </a:rPr>
              <a:t>Zerodha support portal provides a focal point of user help-it provides help topics, creation of tickets, and support categorized to speed up an issue.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510" y="159029"/>
            <a:ext cx="10450830" cy="1177928"/>
            <a:chOff x="0" y="0"/>
            <a:chExt cx="13934440" cy="1570571"/>
          </a:xfrm>
        </p:grpSpPr>
        <p:sp>
          <p:nvSpPr>
            <p:cNvPr name="Freeform 3" id="3"/>
            <p:cNvSpPr/>
            <p:nvPr/>
          </p:nvSpPr>
          <p:spPr>
            <a:xfrm flipH="false" flipV="false" rot="0">
              <a:off x="0" y="0"/>
              <a:ext cx="13934439" cy="1570101"/>
            </a:xfrm>
            <a:custGeom>
              <a:avLst/>
              <a:gdLst/>
              <a:ahLst/>
              <a:cxnLst/>
              <a:rect r="r" b="b" t="t" l="l"/>
              <a:pathLst>
                <a:path h="1570101" w="13934439">
                  <a:moveTo>
                    <a:pt x="13934439" y="1570101"/>
                  </a:moveTo>
                  <a:lnTo>
                    <a:pt x="0" y="1570101"/>
                  </a:lnTo>
                  <a:lnTo>
                    <a:pt x="0" y="0"/>
                  </a:lnTo>
                  <a:lnTo>
                    <a:pt x="13934439" y="0"/>
                  </a:lnTo>
                  <a:lnTo>
                    <a:pt x="13934439" y="1570101"/>
                  </a:lnTo>
                  <a:close/>
                </a:path>
              </a:pathLst>
            </a:custGeom>
            <a:solidFill>
              <a:srgbClr val="2D4DE6"/>
            </a:solidFill>
          </p:spPr>
        </p:sp>
      </p:grpSp>
      <p:grpSp>
        <p:nvGrpSpPr>
          <p:cNvPr name="Group 4" id="4"/>
          <p:cNvGrpSpPr/>
          <p:nvPr/>
        </p:nvGrpSpPr>
        <p:grpSpPr>
          <a:xfrm rot="0">
            <a:off x="205807" y="1370343"/>
            <a:ext cx="7875422" cy="4469282"/>
            <a:chOff x="0" y="0"/>
            <a:chExt cx="10500563" cy="5959043"/>
          </a:xfrm>
        </p:grpSpPr>
        <p:sp>
          <p:nvSpPr>
            <p:cNvPr name="Freeform 5" id="5"/>
            <p:cNvSpPr/>
            <p:nvPr/>
          </p:nvSpPr>
          <p:spPr>
            <a:xfrm flipH="false" flipV="false" rot="0">
              <a:off x="0" y="0"/>
              <a:ext cx="10500614" cy="5959094"/>
            </a:xfrm>
            <a:custGeom>
              <a:avLst/>
              <a:gdLst/>
              <a:ahLst/>
              <a:cxnLst/>
              <a:rect r="r" b="b" t="t" l="l"/>
              <a:pathLst>
                <a:path h="5959094" w="10500614">
                  <a:moveTo>
                    <a:pt x="0" y="0"/>
                  </a:moveTo>
                  <a:lnTo>
                    <a:pt x="10500614" y="0"/>
                  </a:lnTo>
                  <a:lnTo>
                    <a:pt x="10500614" y="5959094"/>
                  </a:lnTo>
                  <a:lnTo>
                    <a:pt x="0" y="5959094"/>
                  </a:lnTo>
                  <a:lnTo>
                    <a:pt x="0" y="0"/>
                  </a:lnTo>
                  <a:close/>
                </a:path>
              </a:pathLst>
            </a:custGeom>
            <a:blipFill>
              <a:blip r:embed="rId2"/>
              <a:stretch>
                <a:fillRect l="0" t="-33" r="0" b="-32"/>
              </a:stretch>
            </a:blipFill>
          </p:spPr>
        </p:sp>
      </p:grpSp>
      <p:grpSp>
        <p:nvGrpSpPr>
          <p:cNvPr name="Group 6" id="6"/>
          <p:cNvGrpSpPr/>
          <p:nvPr/>
        </p:nvGrpSpPr>
        <p:grpSpPr>
          <a:xfrm rot="0">
            <a:off x="156286" y="1320822"/>
            <a:ext cx="7972406" cy="4567533"/>
            <a:chOff x="0" y="0"/>
            <a:chExt cx="10629875" cy="6090044"/>
          </a:xfrm>
        </p:grpSpPr>
        <p:sp>
          <p:nvSpPr>
            <p:cNvPr name="Freeform 7" id="7"/>
            <p:cNvSpPr/>
            <p:nvPr/>
          </p:nvSpPr>
          <p:spPr>
            <a:xfrm flipH="false" flipV="false" rot="0">
              <a:off x="0" y="0"/>
              <a:ext cx="10629900" cy="6089523"/>
            </a:xfrm>
            <a:custGeom>
              <a:avLst/>
              <a:gdLst/>
              <a:ahLst/>
              <a:cxnLst/>
              <a:rect r="r" b="b" t="t" l="l"/>
              <a:pathLst>
                <a:path h="6089523" w="10629900">
                  <a:moveTo>
                    <a:pt x="101600" y="50800"/>
                  </a:moveTo>
                  <a:lnTo>
                    <a:pt x="101600" y="6038723"/>
                  </a:lnTo>
                  <a:lnTo>
                    <a:pt x="50800" y="6038723"/>
                  </a:lnTo>
                  <a:lnTo>
                    <a:pt x="50800" y="5987923"/>
                  </a:lnTo>
                  <a:lnTo>
                    <a:pt x="10579100" y="5987923"/>
                  </a:lnTo>
                  <a:lnTo>
                    <a:pt x="10579100" y="6038723"/>
                  </a:lnTo>
                  <a:lnTo>
                    <a:pt x="10528300" y="6038723"/>
                  </a:lnTo>
                  <a:lnTo>
                    <a:pt x="10528300" y="50800"/>
                  </a:lnTo>
                  <a:lnTo>
                    <a:pt x="10579100" y="50800"/>
                  </a:lnTo>
                  <a:lnTo>
                    <a:pt x="10579100" y="101600"/>
                  </a:lnTo>
                  <a:lnTo>
                    <a:pt x="50800" y="101600"/>
                  </a:lnTo>
                  <a:lnTo>
                    <a:pt x="50800" y="0"/>
                  </a:lnTo>
                  <a:lnTo>
                    <a:pt x="10579100" y="0"/>
                  </a:lnTo>
                  <a:cubicBezTo>
                    <a:pt x="10607167" y="0"/>
                    <a:pt x="10629900" y="22733"/>
                    <a:pt x="10629900" y="50800"/>
                  </a:cubicBezTo>
                  <a:lnTo>
                    <a:pt x="10629900" y="6038723"/>
                  </a:lnTo>
                  <a:cubicBezTo>
                    <a:pt x="10629900" y="6066790"/>
                    <a:pt x="10607167" y="6089523"/>
                    <a:pt x="10579100" y="6089523"/>
                  </a:cubicBezTo>
                  <a:lnTo>
                    <a:pt x="50800" y="6089523"/>
                  </a:lnTo>
                  <a:cubicBezTo>
                    <a:pt x="22733" y="6089523"/>
                    <a:pt x="0" y="6066790"/>
                    <a:pt x="0" y="6038723"/>
                  </a:cubicBezTo>
                  <a:lnTo>
                    <a:pt x="0" y="50800"/>
                  </a:lnTo>
                  <a:close/>
                </a:path>
              </a:pathLst>
            </a:custGeom>
            <a:solidFill>
              <a:srgbClr val="000000"/>
            </a:solidFill>
          </p:spPr>
        </p:sp>
      </p:grpSp>
      <p:grpSp>
        <p:nvGrpSpPr>
          <p:cNvPr name="Group 8" id="8"/>
          <p:cNvGrpSpPr/>
          <p:nvPr/>
        </p:nvGrpSpPr>
        <p:grpSpPr>
          <a:xfrm rot="0">
            <a:off x="205807" y="6106944"/>
            <a:ext cx="4836052" cy="3771576"/>
            <a:chOff x="0" y="0"/>
            <a:chExt cx="6448069" cy="5028768"/>
          </a:xfrm>
        </p:grpSpPr>
        <p:sp>
          <p:nvSpPr>
            <p:cNvPr name="Freeform 9" id="9"/>
            <p:cNvSpPr/>
            <p:nvPr/>
          </p:nvSpPr>
          <p:spPr>
            <a:xfrm flipH="false" flipV="false" rot="0">
              <a:off x="0" y="0"/>
              <a:ext cx="6448044" cy="5028819"/>
            </a:xfrm>
            <a:custGeom>
              <a:avLst/>
              <a:gdLst/>
              <a:ahLst/>
              <a:cxnLst/>
              <a:rect r="r" b="b" t="t" l="l"/>
              <a:pathLst>
                <a:path h="5028819" w="6448044">
                  <a:moveTo>
                    <a:pt x="0" y="0"/>
                  </a:moveTo>
                  <a:lnTo>
                    <a:pt x="6448044" y="0"/>
                  </a:lnTo>
                  <a:lnTo>
                    <a:pt x="6448044" y="5028819"/>
                  </a:lnTo>
                  <a:lnTo>
                    <a:pt x="0" y="5028819"/>
                  </a:lnTo>
                  <a:lnTo>
                    <a:pt x="0" y="0"/>
                  </a:lnTo>
                  <a:close/>
                </a:path>
              </a:pathLst>
            </a:custGeom>
            <a:blipFill>
              <a:blip r:embed="rId3"/>
              <a:stretch>
                <a:fillRect l="0" t="-13" r="0" b="-12"/>
              </a:stretch>
            </a:blipFill>
          </p:spPr>
        </p:sp>
      </p:grpSp>
      <p:grpSp>
        <p:nvGrpSpPr>
          <p:cNvPr name="Group 10" id="10"/>
          <p:cNvGrpSpPr/>
          <p:nvPr/>
        </p:nvGrpSpPr>
        <p:grpSpPr>
          <a:xfrm rot="0">
            <a:off x="156305" y="5994159"/>
            <a:ext cx="4931988" cy="4057593"/>
            <a:chOff x="0" y="0"/>
            <a:chExt cx="6575984" cy="5410124"/>
          </a:xfrm>
        </p:grpSpPr>
        <p:sp>
          <p:nvSpPr>
            <p:cNvPr name="Freeform 11" id="11"/>
            <p:cNvSpPr/>
            <p:nvPr/>
          </p:nvSpPr>
          <p:spPr>
            <a:xfrm flipH="false" flipV="false" rot="0">
              <a:off x="0" y="0"/>
              <a:ext cx="6575298" cy="5410200"/>
            </a:xfrm>
            <a:custGeom>
              <a:avLst/>
              <a:gdLst/>
              <a:ahLst/>
              <a:cxnLst/>
              <a:rect r="r" b="b" t="t" l="l"/>
              <a:pathLst>
                <a:path h="5410200" w="6575298">
                  <a:moveTo>
                    <a:pt x="101473" y="50800"/>
                  </a:moveTo>
                  <a:lnTo>
                    <a:pt x="101473" y="5359400"/>
                  </a:lnTo>
                  <a:lnTo>
                    <a:pt x="50800" y="5359400"/>
                  </a:lnTo>
                  <a:lnTo>
                    <a:pt x="50800" y="5308600"/>
                  </a:lnTo>
                  <a:lnTo>
                    <a:pt x="6524498" y="5308600"/>
                  </a:lnTo>
                  <a:lnTo>
                    <a:pt x="6524498" y="5359400"/>
                  </a:lnTo>
                  <a:lnTo>
                    <a:pt x="6473698" y="5359400"/>
                  </a:lnTo>
                  <a:lnTo>
                    <a:pt x="6473698" y="50800"/>
                  </a:lnTo>
                  <a:lnTo>
                    <a:pt x="6524498" y="50800"/>
                  </a:lnTo>
                  <a:lnTo>
                    <a:pt x="6524498" y="101600"/>
                  </a:lnTo>
                  <a:lnTo>
                    <a:pt x="50800" y="101600"/>
                  </a:lnTo>
                  <a:lnTo>
                    <a:pt x="50800" y="0"/>
                  </a:lnTo>
                  <a:lnTo>
                    <a:pt x="6524498" y="0"/>
                  </a:lnTo>
                  <a:cubicBezTo>
                    <a:pt x="6552565" y="0"/>
                    <a:pt x="6575298" y="22733"/>
                    <a:pt x="6575298" y="50800"/>
                  </a:cubicBezTo>
                  <a:lnTo>
                    <a:pt x="6575298" y="5359400"/>
                  </a:lnTo>
                  <a:cubicBezTo>
                    <a:pt x="6575298" y="5387467"/>
                    <a:pt x="6552565" y="5410200"/>
                    <a:pt x="6524498" y="5410200"/>
                  </a:cubicBezTo>
                  <a:lnTo>
                    <a:pt x="50800" y="5410200"/>
                  </a:lnTo>
                  <a:cubicBezTo>
                    <a:pt x="22733" y="5410200"/>
                    <a:pt x="0" y="5387467"/>
                    <a:pt x="0" y="5359400"/>
                  </a:cubicBezTo>
                  <a:lnTo>
                    <a:pt x="0" y="50800"/>
                  </a:lnTo>
                  <a:close/>
                </a:path>
              </a:pathLst>
            </a:custGeom>
            <a:solidFill>
              <a:srgbClr val="000000"/>
            </a:solidFill>
          </p:spPr>
        </p:sp>
      </p:grpSp>
      <p:grpSp>
        <p:nvGrpSpPr>
          <p:cNvPr name="Group 12" id="12"/>
          <p:cNvGrpSpPr/>
          <p:nvPr/>
        </p:nvGrpSpPr>
        <p:grpSpPr>
          <a:xfrm rot="0">
            <a:off x="8235334" y="4866618"/>
            <a:ext cx="9750000" cy="5254476"/>
            <a:chOff x="0" y="0"/>
            <a:chExt cx="12999999" cy="7005968"/>
          </a:xfrm>
        </p:grpSpPr>
        <p:sp>
          <p:nvSpPr>
            <p:cNvPr name="Freeform 13" id="13"/>
            <p:cNvSpPr/>
            <p:nvPr/>
          </p:nvSpPr>
          <p:spPr>
            <a:xfrm flipH="false" flipV="false" rot="0">
              <a:off x="0" y="0"/>
              <a:ext cx="12999974" cy="7005955"/>
            </a:xfrm>
            <a:custGeom>
              <a:avLst/>
              <a:gdLst/>
              <a:ahLst/>
              <a:cxnLst/>
              <a:rect r="r" b="b" t="t" l="l"/>
              <a:pathLst>
                <a:path h="7005955" w="12999974">
                  <a:moveTo>
                    <a:pt x="0" y="0"/>
                  </a:moveTo>
                  <a:lnTo>
                    <a:pt x="12999974" y="0"/>
                  </a:lnTo>
                  <a:lnTo>
                    <a:pt x="12999974" y="7005955"/>
                  </a:lnTo>
                  <a:lnTo>
                    <a:pt x="0" y="7005955"/>
                  </a:lnTo>
                  <a:lnTo>
                    <a:pt x="0" y="0"/>
                  </a:lnTo>
                  <a:close/>
                </a:path>
              </a:pathLst>
            </a:custGeom>
            <a:blipFill>
              <a:blip r:embed="rId4"/>
              <a:stretch>
                <a:fillRect l="0" t="-68" r="0" b="-68"/>
              </a:stretch>
            </a:blipFill>
          </p:spPr>
        </p:sp>
      </p:grpSp>
      <p:grpSp>
        <p:nvGrpSpPr>
          <p:cNvPr name="Group 14" id="14"/>
          <p:cNvGrpSpPr/>
          <p:nvPr/>
        </p:nvGrpSpPr>
        <p:grpSpPr>
          <a:xfrm rot="0">
            <a:off x="8185804" y="4817088"/>
            <a:ext cx="9848840" cy="5353679"/>
            <a:chOff x="0" y="0"/>
            <a:chExt cx="13131787" cy="7138238"/>
          </a:xfrm>
        </p:grpSpPr>
        <p:sp>
          <p:nvSpPr>
            <p:cNvPr name="Freeform 15" id="15"/>
            <p:cNvSpPr/>
            <p:nvPr/>
          </p:nvSpPr>
          <p:spPr>
            <a:xfrm flipH="false" flipV="false" rot="0">
              <a:off x="0" y="0"/>
              <a:ext cx="13130912" cy="7137400"/>
            </a:xfrm>
            <a:custGeom>
              <a:avLst/>
              <a:gdLst/>
              <a:ahLst/>
              <a:cxnLst/>
              <a:rect r="r" b="b" t="t" l="l"/>
              <a:pathLst>
                <a:path h="7137400" w="13130912">
                  <a:moveTo>
                    <a:pt x="101600" y="50800"/>
                  </a:moveTo>
                  <a:lnTo>
                    <a:pt x="101600" y="7086600"/>
                  </a:lnTo>
                  <a:lnTo>
                    <a:pt x="50800" y="7086600"/>
                  </a:lnTo>
                  <a:lnTo>
                    <a:pt x="50800" y="7035800"/>
                  </a:lnTo>
                  <a:lnTo>
                    <a:pt x="13080112" y="7035800"/>
                  </a:lnTo>
                  <a:lnTo>
                    <a:pt x="13080112" y="7086600"/>
                  </a:lnTo>
                  <a:lnTo>
                    <a:pt x="13029312" y="7086600"/>
                  </a:lnTo>
                  <a:lnTo>
                    <a:pt x="13029312" y="50800"/>
                  </a:lnTo>
                  <a:lnTo>
                    <a:pt x="13080112" y="50800"/>
                  </a:lnTo>
                  <a:lnTo>
                    <a:pt x="13080112" y="101600"/>
                  </a:lnTo>
                  <a:lnTo>
                    <a:pt x="50800" y="101600"/>
                  </a:lnTo>
                  <a:lnTo>
                    <a:pt x="50800" y="0"/>
                  </a:lnTo>
                  <a:lnTo>
                    <a:pt x="13080112" y="0"/>
                  </a:lnTo>
                  <a:cubicBezTo>
                    <a:pt x="13108178" y="0"/>
                    <a:pt x="13130912" y="22733"/>
                    <a:pt x="13130912" y="50800"/>
                  </a:cubicBezTo>
                  <a:lnTo>
                    <a:pt x="13130912" y="7086600"/>
                  </a:lnTo>
                  <a:cubicBezTo>
                    <a:pt x="13130912" y="7114667"/>
                    <a:pt x="13108178" y="7137400"/>
                    <a:pt x="13080112" y="7137400"/>
                  </a:cubicBezTo>
                  <a:lnTo>
                    <a:pt x="50800" y="7137400"/>
                  </a:lnTo>
                  <a:cubicBezTo>
                    <a:pt x="22733" y="7137400"/>
                    <a:pt x="0" y="7114667"/>
                    <a:pt x="0" y="7086600"/>
                  </a:cubicBezTo>
                  <a:lnTo>
                    <a:pt x="0" y="50800"/>
                  </a:lnTo>
                  <a:close/>
                </a:path>
              </a:pathLst>
            </a:custGeom>
            <a:solidFill>
              <a:srgbClr val="000000"/>
            </a:solidFill>
          </p:spPr>
        </p:sp>
      </p:grpSp>
      <p:sp>
        <p:nvSpPr>
          <p:cNvPr name="TextBox 16" id="16"/>
          <p:cNvSpPr txBox="true"/>
          <p:nvPr/>
        </p:nvSpPr>
        <p:spPr>
          <a:xfrm rot="0">
            <a:off x="3374736" y="348739"/>
            <a:ext cx="9658350" cy="984933"/>
          </a:xfrm>
          <a:prstGeom prst="rect">
            <a:avLst/>
          </a:prstGeom>
        </p:spPr>
        <p:txBody>
          <a:bodyPr anchor="t" rtlCol="false" tIns="0" lIns="0" bIns="0" rIns="0">
            <a:spAutoFit/>
          </a:bodyPr>
          <a:lstStyle/>
          <a:p>
            <a:pPr algn="l">
              <a:lnSpc>
                <a:spcPts val="4800"/>
              </a:lnSpc>
            </a:pPr>
            <a:r>
              <a:rPr lang="en-US" sz="4000" spc="-204">
                <a:solidFill>
                  <a:srgbClr val="FFFFFF"/>
                </a:solidFill>
                <a:latin typeface="Arial"/>
                <a:ea typeface="Arial"/>
                <a:cs typeface="Arial"/>
                <a:sym typeface="Arial"/>
              </a:rPr>
              <a:t>Dashboard</a:t>
            </a:r>
          </a:p>
        </p:txBody>
      </p:sp>
      <p:sp>
        <p:nvSpPr>
          <p:cNvPr name="TextBox 17" id="17"/>
          <p:cNvSpPr txBox="true"/>
          <p:nvPr/>
        </p:nvSpPr>
        <p:spPr>
          <a:xfrm rot="0">
            <a:off x="8211198" y="1350207"/>
            <a:ext cx="9737093" cy="3422647"/>
          </a:xfrm>
          <a:prstGeom prst="rect">
            <a:avLst/>
          </a:prstGeom>
        </p:spPr>
        <p:txBody>
          <a:bodyPr anchor="t" rtlCol="false" tIns="0" lIns="0" bIns="0" rIns="0">
            <a:spAutoFit/>
          </a:bodyPr>
          <a:lstStyle/>
          <a:p>
            <a:pPr algn="just">
              <a:lnSpc>
                <a:spcPts val="3300"/>
              </a:lnSpc>
            </a:pPr>
            <a:r>
              <a:rPr lang="en-US" sz="2400">
                <a:solidFill>
                  <a:srgbClr val="000000"/>
                </a:solidFill>
                <a:latin typeface="Arial"/>
                <a:ea typeface="Arial"/>
                <a:cs typeface="Arial"/>
                <a:sym typeface="Arial"/>
              </a:rPr>
              <a:t>The dashboard provided by Zerodha gives a real-time and complete view of the trading portfolio of the user. The interface shows major data including equity, holdings and profit/loss overviews, as well as easy to understand visual charts, such as pie and bar graphs. The dashboard will allow users to monitor their stocks and see market indices and also make  trades.  It  facilitates  fast  accessibility  to  orders,  positions  and funds,  which  guarantees  a  smooth  portfolio  tracking  and  trading decisions.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9992" y="60569"/>
            <a:ext cx="5226558" cy="1330242"/>
            <a:chOff x="0" y="0"/>
            <a:chExt cx="6968744" cy="1773657"/>
          </a:xfrm>
        </p:grpSpPr>
        <p:sp>
          <p:nvSpPr>
            <p:cNvPr name="Freeform 3" id="3"/>
            <p:cNvSpPr/>
            <p:nvPr/>
          </p:nvSpPr>
          <p:spPr>
            <a:xfrm flipH="false" flipV="false" rot="0">
              <a:off x="0" y="0"/>
              <a:ext cx="6968744" cy="1773682"/>
            </a:xfrm>
            <a:custGeom>
              <a:avLst/>
              <a:gdLst/>
              <a:ahLst/>
              <a:cxnLst/>
              <a:rect r="r" b="b" t="t" l="l"/>
              <a:pathLst>
                <a:path h="1773682" w="6968744">
                  <a:moveTo>
                    <a:pt x="0" y="0"/>
                  </a:moveTo>
                  <a:lnTo>
                    <a:pt x="6968744" y="0"/>
                  </a:lnTo>
                  <a:lnTo>
                    <a:pt x="6968744" y="1773682"/>
                  </a:lnTo>
                  <a:lnTo>
                    <a:pt x="0" y="1773682"/>
                  </a:lnTo>
                  <a:lnTo>
                    <a:pt x="0" y="0"/>
                  </a:lnTo>
                  <a:close/>
                </a:path>
              </a:pathLst>
            </a:custGeom>
            <a:blipFill>
              <a:blip r:embed="rId2"/>
              <a:stretch>
                <a:fillRect l="-82" t="0" r="-82" b="1"/>
              </a:stretch>
            </a:blipFill>
          </p:spPr>
        </p:sp>
      </p:grpSp>
      <p:grpSp>
        <p:nvGrpSpPr>
          <p:cNvPr name="Group 4" id="4"/>
          <p:cNvGrpSpPr/>
          <p:nvPr/>
        </p:nvGrpSpPr>
        <p:grpSpPr>
          <a:xfrm rot="0">
            <a:off x="15776010" y="219742"/>
            <a:ext cx="2435743" cy="811368"/>
            <a:chOff x="0" y="0"/>
            <a:chExt cx="3247657" cy="1081824"/>
          </a:xfrm>
        </p:grpSpPr>
        <p:sp>
          <p:nvSpPr>
            <p:cNvPr name="Freeform 5" id="5"/>
            <p:cNvSpPr/>
            <p:nvPr/>
          </p:nvSpPr>
          <p:spPr>
            <a:xfrm flipH="false" flipV="false" rot="0">
              <a:off x="0" y="0"/>
              <a:ext cx="3247644" cy="1081786"/>
            </a:xfrm>
            <a:custGeom>
              <a:avLst/>
              <a:gdLst/>
              <a:ahLst/>
              <a:cxnLst/>
              <a:rect r="r" b="b" t="t" l="l"/>
              <a:pathLst>
                <a:path h="1081786" w="3247644">
                  <a:moveTo>
                    <a:pt x="0" y="0"/>
                  </a:moveTo>
                  <a:lnTo>
                    <a:pt x="3247644" y="0"/>
                  </a:lnTo>
                  <a:lnTo>
                    <a:pt x="3247644" y="1081786"/>
                  </a:lnTo>
                  <a:lnTo>
                    <a:pt x="0" y="1081786"/>
                  </a:lnTo>
                  <a:lnTo>
                    <a:pt x="0" y="0"/>
                  </a:lnTo>
                  <a:close/>
                </a:path>
              </a:pathLst>
            </a:custGeom>
            <a:blipFill>
              <a:blip r:embed="rId3"/>
              <a:stretch>
                <a:fillRect l="-139" t="0" r="-139" b="-3"/>
              </a:stretch>
            </a:blipFill>
          </p:spPr>
        </p:sp>
      </p:grpSp>
      <p:grpSp>
        <p:nvGrpSpPr>
          <p:cNvPr name="Group 6" id="6"/>
          <p:cNvGrpSpPr/>
          <p:nvPr/>
        </p:nvGrpSpPr>
        <p:grpSpPr>
          <a:xfrm rot="0">
            <a:off x="7365492" y="725700"/>
            <a:ext cx="3200400" cy="4467206"/>
            <a:chOff x="0" y="0"/>
            <a:chExt cx="4267200" cy="5956275"/>
          </a:xfrm>
        </p:grpSpPr>
        <p:sp>
          <p:nvSpPr>
            <p:cNvPr name="Freeform 7" id="7"/>
            <p:cNvSpPr/>
            <p:nvPr/>
          </p:nvSpPr>
          <p:spPr>
            <a:xfrm flipH="false" flipV="false" rot="0">
              <a:off x="0" y="0"/>
              <a:ext cx="4267200" cy="5956300"/>
            </a:xfrm>
            <a:custGeom>
              <a:avLst/>
              <a:gdLst/>
              <a:ahLst/>
              <a:cxnLst/>
              <a:rect r="r" b="b" t="t" l="l"/>
              <a:pathLst>
                <a:path h="5956300" w="4267200">
                  <a:moveTo>
                    <a:pt x="0" y="0"/>
                  </a:moveTo>
                  <a:lnTo>
                    <a:pt x="4267200" y="0"/>
                  </a:lnTo>
                  <a:lnTo>
                    <a:pt x="4267200" y="5956300"/>
                  </a:lnTo>
                  <a:lnTo>
                    <a:pt x="0" y="5956300"/>
                  </a:lnTo>
                  <a:lnTo>
                    <a:pt x="0" y="0"/>
                  </a:lnTo>
                  <a:close/>
                </a:path>
              </a:pathLst>
            </a:custGeom>
            <a:blipFill>
              <a:blip r:embed="rId4"/>
              <a:stretch>
                <a:fillRect l="0" t="-33" r="0" b="-32"/>
              </a:stretch>
            </a:blipFill>
          </p:spPr>
        </p:sp>
      </p:grpSp>
      <p:grpSp>
        <p:nvGrpSpPr>
          <p:cNvPr name="Group 8" id="8"/>
          <p:cNvGrpSpPr/>
          <p:nvPr/>
        </p:nvGrpSpPr>
        <p:grpSpPr>
          <a:xfrm rot="0">
            <a:off x="10792568" y="4183351"/>
            <a:ext cx="7343756" cy="6103649"/>
            <a:chOff x="0" y="0"/>
            <a:chExt cx="9791675" cy="8138198"/>
          </a:xfrm>
        </p:grpSpPr>
        <p:sp>
          <p:nvSpPr>
            <p:cNvPr name="Freeform 9" id="9"/>
            <p:cNvSpPr/>
            <p:nvPr/>
          </p:nvSpPr>
          <p:spPr>
            <a:xfrm flipH="false" flipV="false" rot="0">
              <a:off x="0" y="0"/>
              <a:ext cx="9791700" cy="8138160"/>
            </a:xfrm>
            <a:custGeom>
              <a:avLst/>
              <a:gdLst/>
              <a:ahLst/>
              <a:cxnLst/>
              <a:rect r="r" b="b" t="t" l="l"/>
              <a:pathLst>
                <a:path h="8138160" w="9791700">
                  <a:moveTo>
                    <a:pt x="0" y="0"/>
                  </a:moveTo>
                  <a:lnTo>
                    <a:pt x="9791700" y="0"/>
                  </a:lnTo>
                  <a:lnTo>
                    <a:pt x="9791700" y="8138160"/>
                  </a:lnTo>
                  <a:lnTo>
                    <a:pt x="0" y="8138160"/>
                  </a:lnTo>
                  <a:lnTo>
                    <a:pt x="0" y="0"/>
                  </a:lnTo>
                  <a:close/>
                </a:path>
              </a:pathLst>
            </a:custGeom>
            <a:blipFill>
              <a:blip r:embed="rId5"/>
              <a:stretch>
                <a:fillRect l="0" t="-77" r="0" b="-77"/>
              </a:stretch>
            </a:blipFill>
          </p:spPr>
        </p:sp>
      </p:grpSp>
      <p:sp>
        <p:nvSpPr>
          <p:cNvPr name="TextBox 10" id="10"/>
          <p:cNvSpPr txBox="true"/>
          <p:nvPr/>
        </p:nvSpPr>
        <p:spPr>
          <a:xfrm rot="0">
            <a:off x="475383" y="210"/>
            <a:ext cx="4797972" cy="1257300"/>
          </a:xfrm>
          <a:prstGeom prst="rect">
            <a:avLst/>
          </a:prstGeom>
        </p:spPr>
        <p:txBody>
          <a:bodyPr anchor="t" rtlCol="false" tIns="0" lIns="0" bIns="0" rIns="0">
            <a:spAutoFit/>
          </a:bodyPr>
          <a:lstStyle/>
          <a:p>
            <a:pPr algn="l">
              <a:lnSpc>
                <a:spcPts val="9540"/>
              </a:lnSpc>
            </a:pPr>
            <a:r>
              <a:rPr lang="en-US" sz="7950" spc="-705">
                <a:solidFill>
                  <a:srgbClr val="FFFFFF"/>
                </a:solidFill>
                <a:latin typeface="Arial"/>
                <a:ea typeface="Arial"/>
                <a:cs typeface="Arial"/>
                <a:sym typeface="Arial"/>
              </a:rPr>
              <a:t>Test Case 1</a:t>
            </a:r>
          </a:p>
        </p:txBody>
      </p:sp>
      <p:grpSp>
        <p:nvGrpSpPr>
          <p:cNvPr name="Group 11" id="11"/>
          <p:cNvGrpSpPr/>
          <p:nvPr/>
        </p:nvGrpSpPr>
        <p:grpSpPr>
          <a:xfrm rot="0">
            <a:off x="458019" y="3997747"/>
            <a:ext cx="51435" cy="51435"/>
            <a:chOff x="0" y="0"/>
            <a:chExt cx="68580" cy="68580"/>
          </a:xfrm>
        </p:grpSpPr>
        <p:sp>
          <p:nvSpPr>
            <p:cNvPr name="Freeform 12" id="12"/>
            <p:cNvSpPr/>
            <p:nvPr/>
          </p:nvSpPr>
          <p:spPr>
            <a:xfrm flipH="false" flipV="false" rot="0">
              <a:off x="0" y="0"/>
              <a:ext cx="68199" cy="68199"/>
            </a:xfrm>
            <a:custGeom>
              <a:avLst/>
              <a:gdLst/>
              <a:ahLst/>
              <a:cxnLst/>
              <a:rect r="r" b="b" t="t" l="l"/>
              <a:pathLst>
                <a:path h="68199" w="68199">
                  <a:moveTo>
                    <a:pt x="38608" y="68199"/>
                  </a:moveTo>
                  <a:lnTo>
                    <a:pt x="29591" y="68199"/>
                  </a:lnTo>
                  <a:lnTo>
                    <a:pt x="25273" y="67310"/>
                  </a:lnTo>
                  <a:lnTo>
                    <a:pt x="0" y="38608"/>
                  </a:lnTo>
                  <a:lnTo>
                    <a:pt x="0" y="29591"/>
                  </a:lnTo>
                  <a:lnTo>
                    <a:pt x="29591" y="0"/>
                  </a:lnTo>
                  <a:lnTo>
                    <a:pt x="38608" y="0"/>
                  </a:lnTo>
                  <a:lnTo>
                    <a:pt x="68199" y="29591"/>
                  </a:lnTo>
                  <a:lnTo>
                    <a:pt x="68199" y="34163"/>
                  </a:lnTo>
                  <a:lnTo>
                    <a:pt x="68199" y="38735"/>
                  </a:lnTo>
                  <a:lnTo>
                    <a:pt x="42926" y="67310"/>
                  </a:lnTo>
                  <a:lnTo>
                    <a:pt x="38608" y="68199"/>
                  </a:lnTo>
                  <a:close/>
                </a:path>
              </a:pathLst>
            </a:custGeom>
            <a:solidFill>
              <a:srgbClr val="000000"/>
            </a:solidFill>
          </p:spPr>
        </p:sp>
      </p:grpSp>
      <p:grpSp>
        <p:nvGrpSpPr>
          <p:cNvPr name="Group 13" id="13"/>
          <p:cNvGrpSpPr/>
          <p:nvPr/>
        </p:nvGrpSpPr>
        <p:grpSpPr>
          <a:xfrm rot="0">
            <a:off x="458019" y="4943332"/>
            <a:ext cx="51435" cy="51435"/>
            <a:chOff x="0" y="0"/>
            <a:chExt cx="68580" cy="68580"/>
          </a:xfrm>
        </p:grpSpPr>
        <p:sp>
          <p:nvSpPr>
            <p:cNvPr name="Freeform 14" id="14"/>
            <p:cNvSpPr/>
            <p:nvPr/>
          </p:nvSpPr>
          <p:spPr>
            <a:xfrm flipH="false" flipV="false" rot="0">
              <a:off x="0" y="0"/>
              <a:ext cx="68199" cy="68199"/>
            </a:xfrm>
            <a:custGeom>
              <a:avLst/>
              <a:gdLst/>
              <a:ahLst/>
              <a:cxnLst/>
              <a:rect r="r" b="b" t="t" l="l"/>
              <a:pathLst>
                <a:path h="68199" w="68199">
                  <a:moveTo>
                    <a:pt x="38608" y="68199"/>
                  </a:moveTo>
                  <a:lnTo>
                    <a:pt x="29591" y="68199"/>
                  </a:lnTo>
                  <a:lnTo>
                    <a:pt x="25273" y="67310"/>
                  </a:lnTo>
                  <a:lnTo>
                    <a:pt x="0" y="38608"/>
                  </a:lnTo>
                  <a:lnTo>
                    <a:pt x="0" y="29591"/>
                  </a:lnTo>
                  <a:lnTo>
                    <a:pt x="29591" y="0"/>
                  </a:lnTo>
                  <a:lnTo>
                    <a:pt x="38608" y="0"/>
                  </a:lnTo>
                  <a:lnTo>
                    <a:pt x="68199" y="29591"/>
                  </a:lnTo>
                  <a:lnTo>
                    <a:pt x="68199" y="34163"/>
                  </a:lnTo>
                  <a:lnTo>
                    <a:pt x="68199" y="38735"/>
                  </a:lnTo>
                  <a:lnTo>
                    <a:pt x="42926" y="67310"/>
                  </a:lnTo>
                  <a:lnTo>
                    <a:pt x="38608" y="68199"/>
                  </a:lnTo>
                  <a:close/>
                </a:path>
              </a:pathLst>
            </a:custGeom>
            <a:solidFill>
              <a:srgbClr val="000000"/>
            </a:solidFill>
          </p:spPr>
        </p:sp>
      </p:grpSp>
      <p:grpSp>
        <p:nvGrpSpPr>
          <p:cNvPr name="Group 15" id="15"/>
          <p:cNvGrpSpPr/>
          <p:nvPr/>
        </p:nvGrpSpPr>
        <p:grpSpPr>
          <a:xfrm rot="0">
            <a:off x="458019" y="5258524"/>
            <a:ext cx="51435" cy="51435"/>
            <a:chOff x="0" y="0"/>
            <a:chExt cx="68580" cy="68580"/>
          </a:xfrm>
        </p:grpSpPr>
        <p:sp>
          <p:nvSpPr>
            <p:cNvPr name="Freeform 16" id="16"/>
            <p:cNvSpPr/>
            <p:nvPr/>
          </p:nvSpPr>
          <p:spPr>
            <a:xfrm flipH="false" flipV="false" rot="0">
              <a:off x="0" y="0"/>
              <a:ext cx="68199" cy="68199"/>
            </a:xfrm>
            <a:custGeom>
              <a:avLst/>
              <a:gdLst/>
              <a:ahLst/>
              <a:cxnLst/>
              <a:rect r="r" b="b" t="t" l="l"/>
              <a:pathLst>
                <a:path h="68199" w="68199">
                  <a:moveTo>
                    <a:pt x="38608" y="68199"/>
                  </a:moveTo>
                  <a:lnTo>
                    <a:pt x="29591" y="68199"/>
                  </a:lnTo>
                  <a:lnTo>
                    <a:pt x="25273" y="67310"/>
                  </a:lnTo>
                  <a:lnTo>
                    <a:pt x="0" y="38608"/>
                  </a:lnTo>
                  <a:lnTo>
                    <a:pt x="0" y="29591"/>
                  </a:lnTo>
                  <a:lnTo>
                    <a:pt x="29591" y="0"/>
                  </a:lnTo>
                  <a:lnTo>
                    <a:pt x="38608" y="0"/>
                  </a:lnTo>
                  <a:lnTo>
                    <a:pt x="68199" y="29591"/>
                  </a:lnTo>
                  <a:lnTo>
                    <a:pt x="68199" y="34163"/>
                  </a:lnTo>
                  <a:lnTo>
                    <a:pt x="68199" y="38735"/>
                  </a:lnTo>
                  <a:lnTo>
                    <a:pt x="42926" y="67310"/>
                  </a:lnTo>
                  <a:lnTo>
                    <a:pt x="38608" y="68199"/>
                  </a:lnTo>
                  <a:close/>
                </a:path>
              </a:pathLst>
            </a:custGeom>
            <a:solidFill>
              <a:srgbClr val="000000"/>
            </a:solidFill>
          </p:spPr>
        </p:sp>
      </p:grpSp>
      <p:sp>
        <p:nvSpPr>
          <p:cNvPr name="TextBox 17" id="17"/>
          <p:cNvSpPr txBox="true"/>
          <p:nvPr/>
        </p:nvSpPr>
        <p:spPr>
          <a:xfrm rot="0">
            <a:off x="223838" y="1539859"/>
            <a:ext cx="6758302" cy="5744842"/>
          </a:xfrm>
          <a:prstGeom prst="rect">
            <a:avLst/>
          </a:prstGeom>
        </p:spPr>
        <p:txBody>
          <a:bodyPr anchor="t" rtlCol="false" tIns="0" lIns="0" bIns="0" rIns="0">
            <a:spAutoFit/>
          </a:bodyPr>
          <a:lstStyle/>
          <a:p>
            <a:pPr algn="just">
              <a:lnSpc>
                <a:spcPts val="2482"/>
              </a:lnSpc>
            </a:pPr>
            <a:r>
              <a:rPr lang="en-US" sz="1750">
                <a:solidFill>
                  <a:srgbClr val="000000"/>
                </a:solidFill>
                <a:latin typeface="Arial"/>
                <a:ea typeface="Arial"/>
                <a:cs typeface="Arial"/>
                <a:sym typeface="Arial"/>
              </a:rPr>
              <a:t>In case of the Zerodha Trading App, the component testing was applied with the help of Jest and React Testing Library to make sure that the major UI elements appear and work as intended.</a:t>
            </a:r>
          </a:p>
          <a:p>
            <a:pPr algn="just">
              <a:lnSpc>
                <a:spcPts val="2100"/>
              </a:lnSpc>
            </a:pPr>
            <a:r>
              <a:rPr lang="en-US" sz="1750">
                <a:solidFill>
                  <a:srgbClr val="000000"/>
                </a:solidFill>
                <a:latin typeface="Arial"/>
                <a:ea typeface="Arial"/>
                <a:cs typeface="Arial"/>
                <a:sym typeface="Arial"/>
              </a:rPr>
              <a:t>Emphasis was put on the Hero part of the landing page.</a:t>
            </a:r>
          </a:p>
          <a:p>
            <a:pPr algn="l">
              <a:lnSpc>
                <a:spcPts val="2100"/>
              </a:lnSpc>
            </a:pPr>
          </a:p>
          <a:p>
            <a:pPr algn="just">
              <a:lnSpc>
                <a:spcPts val="2100"/>
              </a:lnSpc>
            </a:pPr>
            <a:r>
              <a:rPr lang="en-US" sz="1750">
                <a:solidFill>
                  <a:srgbClr val="000000"/>
                </a:solidFill>
                <a:latin typeface="Arial"/>
                <a:ea typeface="Arial"/>
                <a:cs typeface="Arial"/>
                <a:sym typeface="Arial"/>
              </a:rPr>
              <a:t>Two large tests were developed:</a:t>
            </a:r>
          </a:p>
          <a:p>
            <a:pPr algn="l">
              <a:lnSpc>
                <a:spcPts val="2100"/>
              </a:lnSpc>
            </a:pPr>
          </a:p>
          <a:p>
            <a:pPr algn="l">
              <a:lnSpc>
                <a:spcPts val="2482"/>
              </a:lnSpc>
            </a:pPr>
            <a:r>
              <a:rPr lang="en-US" sz="1750">
                <a:solidFill>
                  <a:srgbClr val="000000"/>
                </a:solidFill>
                <a:latin typeface="Arial"/>
                <a:ea typeface="Arial"/>
                <a:cs typeface="Arial"/>
                <a:sym typeface="Arial"/>
              </a:rPr>
              <a:t>Image Rendering Test: This tests that the Hero image is loaded properly with use of alt text, and that the image source  attribute indicates the expected file path.</a:t>
            </a:r>
          </a:p>
          <a:p>
            <a:pPr algn="l">
              <a:lnSpc>
                <a:spcPts val="2100"/>
              </a:lnSpc>
            </a:pPr>
          </a:p>
          <a:p>
            <a:pPr algn="l">
              <a:lnSpc>
                <a:spcPts val="2482"/>
              </a:lnSpc>
            </a:pPr>
            <a:r>
              <a:rPr lang="en-US" sz="1750">
                <a:solidFill>
                  <a:srgbClr val="000000"/>
                </a:solidFill>
                <a:latin typeface="Arial"/>
                <a:ea typeface="Arial"/>
                <a:cs typeface="Arial"/>
                <a:sym typeface="Arial"/>
              </a:rPr>
              <a:t>Signup Button Test: This guarantees that the signup button is visible and serves its purpose. It also confirms that the appropriate styling class (btn-primary) is present, guaranteeing a consistent look and ease of use.</a:t>
            </a:r>
          </a:p>
          <a:p>
            <a:pPr algn="l">
              <a:lnSpc>
                <a:spcPts val="2100"/>
              </a:lnSpc>
            </a:pPr>
          </a:p>
          <a:p>
            <a:pPr algn="just">
              <a:lnSpc>
                <a:spcPts val="2482"/>
              </a:lnSpc>
            </a:pPr>
            <a:r>
              <a:rPr lang="en-US" sz="1750">
                <a:solidFill>
                  <a:srgbClr val="000000"/>
                </a:solidFill>
                <a:latin typeface="Arial"/>
                <a:ea typeface="Arial"/>
                <a:cs typeface="Arial"/>
                <a:sym typeface="Arial"/>
              </a:rPr>
              <a:t>The tests make the UI more reliable and contribute to the early detection of regressions during development.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9992" y="60569"/>
            <a:ext cx="5226558" cy="1330242"/>
            <a:chOff x="0" y="0"/>
            <a:chExt cx="6968744" cy="1773657"/>
          </a:xfrm>
        </p:grpSpPr>
        <p:sp>
          <p:nvSpPr>
            <p:cNvPr name="Freeform 3" id="3"/>
            <p:cNvSpPr/>
            <p:nvPr/>
          </p:nvSpPr>
          <p:spPr>
            <a:xfrm flipH="false" flipV="false" rot="0">
              <a:off x="0" y="0"/>
              <a:ext cx="6968744" cy="1773682"/>
            </a:xfrm>
            <a:custGeom>
              <a:avLst/>
              <a:gdLst/>
              <a:ahLst/>
              <a:cxnLst/>
              <a:rect r="r" b="b" t="t" l="l"/>
              <a:pathLst>
                <a:path h="1773682" w="6968744">
                  <a:moveTo>
                    <a:pt x="0" y="0"/>
                  </a:moveTo>
                  <a:lnTo>
                    <a:pt x="6968744" y="0"/>
                  </a:lnTo>
                  <a:lnTo>
                    <a:pt x="6968744" y="1773682"/>
                  </a:lnTo>
                  <a:lnTo>
                    <a:pt x="0" y="1773682"/>
                  </a:lnTo>
                  <a:lnTo>
                    <a:pt x="0" y="0"/>
                  </a:lnTo>
                  <a:close/>
                </a:path>
              </a:pathLst>
            </a:custGeom>
            <a:blipFill>
              <a:blip r:embed="rId2"/>
              <a:stretch>
                <a:fillRect l="-82" t="0" r="-82" b="1"/>
              </a:stretch>
            </a:blipFill>
          </p:spPr>
        </p:sp>
      </p:grpSp>
      <p:grpSp>
        <p:nvGrpSpPr>
          <p:cNvPr name="Group 4" id="4"/>
          <p:cNvGrpSpPr/>
          <p:nvPr/>
        </p:nvGrpSpPr>
        <p:grpSpPr>
          <a:xfrm rot="0">
            <a:off x="15776010" y="219742"/>
            <a:ext cx="2435743" cy="811368"/>
            <a:chOff x="0" y="0"/>
            <a:chExt cx="3247657" cy="1081824"/>
          </a:xfrm>
        </p:grpSpPr>
        <p:sp>
          <p:nvSpPr>
            <p:cNvPr name="Freeform 5" id="5"/>
            <p:cNvSpPr/>
            <p:nvPr/>
          </p:nvSpPr>
          <p:spPr>
            <a:xfrm flipH="false" flipV="false" rot="0">
              <a:off x="0" y="0"/>
              <a:ext cx="3247644" cy="1081786"/>
            </a:xfrm>
            <a:custGeom>
              <a:avLst/>
              <a:gdLst/>
              <a:ahLst/>
              <a:cxnLst/>
              <a:rect r="r" b="b" t="t" l="l"/>
              <a:pathLst>
                <a:path h="1081786" w="3247644">
                  <a:moveTo>
                    <a:pt x="0" y="0"/>
                  </a:moveTo>
                  <a:lnTo>
                    <a:pt x="3247644" y="0"/>
                  </a:lnTo>
                  <a:lnTo>
                    <a:pt x="3247644" y="1081786"/>
                  </a:lnTo>
                  <a:lnTo>
                    <a:pt x="0" y="1081786"/>
                  </a:lnTo>
                  <a:lnTo>
                    <a:pt x="0" y="0"/>
                  </a:lnTo>
                  <a:close/>
                </a:path>
              </a:pathLst>
            </a:custGeom>
            <a:blipFill>
              <a:blip r:embed="rId3"/>
              <a:stretch>
                <a:fillRect l="-139" t="0" r="-139" b="-3"/>
              </a:stretch>
            </a:blipFill>
          </p:spPr>
        </p:sp>
      </p:grpSp>
      <p:sp>
        <p:nvSpPr>
          <p:cNvPr name="Freeform 6" id="6"/>
          <p:cNvSpPr/>
          <p:nvPr/>
        </p:nvSpPr>
        <p:spPr>
          <a:xfrm flipH="false" flipV="false" rot="0">
            <a:off x="223838" y="3395120"/>
            <a:ext cx="5778317" cy="4665991"/>
          </a:xfrm>
          <a:custGeom>
            <a:avLst/>
            <a:gdLst/>
            <a:ahLst/>
            <a:cxnLst/>
            <a:rect r="r" b="b" t="t" l="l"/>
            <a:pathLst>
              <a:path h="4665991" w="5778317">
                <a:moveTo>
                  <a:pt x="0" y="0"/>
                </a:moveTo>
                <a:lnTo>
                  <a:pt x="5778317" y="0"/>
                </a:lnTo>
                <a:lnTo>
                  <a:pt x="5778317" y="4665991"/>
                </a:lnTo>
                <a:lnTo>
                  <a:pt x="0" y="4665991"/>
                </a:lnTo>
                <a:lnTo>
                  <a:pt x="0" y="0"/>
                </a:lnTo>
                <a:close/>
              </a:path>
            </a:pathLst>
          </a:custGeom>
          <a:blipFill>
            <a:blip r:embed="rId4"/>
            <a:stretch>
              <a:fillRect l="0" t="0" r="0" b="0"/>
            </a:stretch>
          </a:blipFill>
        </p:spPr>
      </p:sp>
      <p:sp>
        <p:nvSpPr>
          <p:cNvPr name="Freeform 7" id="7"/>
          <p:cNvSpPr/>
          <p:nvPr/>
        </p:nvSpPr>
        <p:spPr>
          <a:xfrm flipH="false" flipV="false" rot="0">
            <a:off x="6729023" y="3395120"/>
            <a:ext cx="4407107" cy="2546397"/>
          </a:xfrm>
          <a:custGeom>
            <a:avLst/>
            <a:gdLst/>
            <a:ahLst/>
            <a:cxnLst/>
            <a:rect r="r" b="b" t="t" l="l"/>
            <a:pathLst>
              <a:path h="2546397" w="4407107">
                <a:moveTo>
                  <a:pt x="0" y="0"/>
                </a:moveTo>
                <a:lnTo>
                  <a:pt x="4407107" y="0"/>
                </a:lnTo>
                <a:lnTo>
                  <a:pt x="4407107" y="2546396"/>
                </a:lnTo>
                <a:lnTo>
                  <a:pt x="0" y="2546396"/>
                </a:lnTo>
                <a:lnTo>
                  <a:pt x="0" y="0"/>
                </a:lnTo>
                <a:close/>
              </a:path>
            </a:pathLst>
          </a:custGeom>
          <a:blipFill>
            <a:blip r:embed="rId5"/>
            <a:stretch>
              <a:fillRect l="-3640" t="0" r="0" b="0"/>
            </a:stretch>
          </a:blipFill>
        </p:spPr>
      </p:sp>
      <p:sp>
        <p:nvSpPr>
          <p:cNvPr name="Freeform 8" id="8"/>
          <p:cNvSpPr/>
          <p:nvPr/>
        </p:nvSpPr>
        <p:spPr>
          <a:xfrm flipH="false" flipV="false" rot="0">
            <a:off x="11782287" y="3311771"/>
            <a:ext cx="6322578" cy="5121288"/>
          </a:xfrm>
          <a:custGeom>
            <a:avLst/>
            <a:gdLst/>
            <a:ahLst/>
            <a:cxnLst/>
            <a:rect r="r" b="b" t="t" l="l"/>
            <a:pathLst>
              <a:path h="5121288" w="6322578">
                <a:moveTo>
                  <a:pt x="0" y="0"/>
                </a:moveTo>
                <a:lnTo>
                  <a:pt x="6322577" y="0"/>
                </a:lnTo>
                <a:lnTo>
                  <a:pt x="6322577" y="5121288"/>
                </a:lnTo>
                <a:lnTo>
                  <a:pt x="0" y="5121288"/>
                </a:lnTo>
                <a:lnTo>
                  <a:pt x="0" y="0"/>
                </a:lnTo>
                <a:close/>
              </a:path>
            </a:pathLst>
          </a:custGeom>
          <a:blipFill>
            <a:blip r:embed="rId6"/>
            <a:stretch>
              <a:fillRect l="0" t="0" r="0" b="0"/>
            </a:stretch>
          </a:blipFill>
        </p:spPr>
      </p:sp>
      <p:sp>
        <p:nvSpPr>
          <p:cNvPr name="TextBox 9" id="9"/>
          <p:cNvSpPr txBox="true"/>
          <p:nvPr/>
        </p:nvSpPr>
        <p:spPr>
          <a:xfrm rot="0">
            <a:off x="475383" y="210"/>
            <a:ext cx="4991167" cy="1257300"/>
          </a:xfrm>
          <a:prstGeom prst="rect">
            <a:avLst/>
          </a:prstGeom>
        </p:spPr>
        <p:txBody>
          <a:bodyPr anchor="t" rtlCol="false" tIns="0" lIns="0" bIns="0" rIns="0">
            <a:spAutoFit/>
          </a:bodyPr>
          <a:lstStyle/>
          <a:p>
            <a:pPr algn="l">
              <a:lnSpc>
                <a:spcPts val="9540"/>
              </a:lnSpc>
            </a:pPr>
            <a:r>
              <a:rPr lang="en-US" sz="7950" spc="-705">
                <a:solidFill>
                  <a:srgbClr val="FFFFFF"/>
                </a:solidFill>
                <a:latin typeface="Arial"/>
                <a:ea typeface="Arial"/>
                <a:cs typeface="Arial"/>
                <a:sym typeface="Arial"/>
              </a:rPr>
              <a:t>Test Case 2</a:t>
            </a:r>
          </a:p>
        </p:txBody>
      </p:sp>
      <p:sp>
        <p:nvSpPr>
          <p:cNvPr name="TextBox 10" id="10"/>
          <p:cNvSpPr txBox="true"/>
          <p:nvPr/>
        </p:nvSpPr>
        <p:spPr>
          <a:xfrm rot="0">
            <a:off x="223838" y="1539859"/>
            <a:ext cx="6758302" cy="951630"/>
          </a:xfrm>
          <a:prstGeom prst="rect">
            <a:avLst/>
          </a:prstGeom>
        </p:spPr>
        <p:txBody>
          <a:bodyPr anchor="t" rtlCol="false" tIns="0" lIns="0" bIns="0" rIns="0">
            <a:spAutoFit/>
          </a:bodyPr>
          <a:lstStyle/>
          <a:p>
            <a:pPr algn="just">
              <a:lnSpc>
                <a:spcPts val="2481"/>
              </a:lnSpc>
            </a:pPr>
            <a:r>
              <a:rPr lang="en-US" sz="1749">
                <a:solidFill>
                  <a:srgbClr val="000000"/>
                </a:solidFill>
                <a:latin typeface="Arial"/>
                <a:ea typeface="Arial"/>
                <a:cs typeface="Arial"/>
                <a:sym typeface="Arial"/>
              </a:rPr>
              <a:t>When I buy any new stock, for example</a:t>
            </a:r>
          </a:p>
          <a:p>
            <a:pPr algn="just">
              <a:lnSpc>
                <a:spcPts val="2481"/>
              </a:lnSpc>
            </a:pPr>
          </a:p>
          <a:p>
            <a:pPr algn="just">
              <a:lnSpc>
                <a:spcPts val="2482"/>
              </a:lnSpc>
            </a:pPr>
            <a:r>
              <a:rPr lang="en-US" sz="1750">
                <a:solidFill>
                  <a:srgbClr val="000000"/>
                </a:solidFill>
                <a:latin typeface="Arial"/>
                <a:ea typeface="Arial"/>
                <a:cs typeface="Arial"/>
                <a:sym typeface="Arial"/>
              </a:rPr>
              <a:t>Quantity 10, Price: 1400 then it is coming in the orders section.</a:t>
            </a:r>
          </a:p>
        </p:txBody>
      </p:sp>
      <p:sp>
        <p:nvSpPr>
          <p:cNvPr name="TextBox 11" id="11"/>
          <p:cNvSpPr txBox="true"/>
          <p:nvPr/>
        </p:nvSpPr>
        <p:spPr>
          <a:xfrm rot="0">
            <a:off x="239992" y="2862634"/>
            <a:ext cx="6758302" cy="322936"/>
          </a:xfrm>
          <a:prstGeom prst="rect">
            <a:avLst/>
          </a:prstGeom>
        </p:spPr>
        <p:txBody>
          <a:bodyPr anchor="t" rtlCol="false" tIns="0" lIns="0" bIns="0" rIns="0">
            <a:spAutoFit/>
          </a:bodyPr>
          <a:lstStyle/>
          <a:p>
            <a:pPr algn="just">
              <a:lnSpc>
                <a:spcPts val="2482"/>
              </a:lnSpc>
            </a:pPr>
            <a:r>
              <a:rPr lang="en-US" sz="1749">
                <a:solidFill>
                  <a:srgbClr val="000000"/>
                </a:solidFill>
                <a:latin typeface="Arial"/>
                <a:ea typeface="Arial"/>
                <a:cs typeface="Arial"/>
                <a:sym typeface="Arial"/>
              </a:rPr>
              <a:t>Step 1: </a:t>
            </a:r>
          </a:p>
        </p:txBody>
      </p:sp>
      <p:sp>
        <p:nvSpPr>
          <p:cNvPr name="TextBox 12" id="12"/>
          <p:cNvSpPr txBox="true"/>
          <p:nvPr/>
        </p:nvSpPr>
        <p:spPr>
          <a:xfrm rot="0">
            <a:off x="11782287" y="2862634"/>
            <a:ext cx="6758302" cy="322936"/>
          </a:xfrm>
          <a:prstGeom prst="rect">
            <a:avLst/>
          </a:prstGeom>
        </p:spPr>
        <p:txBody>
          <a:bodyPr anchor="t" rtlCol="false" tIns="0" lIns="0" bIns="0" rIns="0">
            <a:spAutoFit/>
          </a:bodyPr>
          <a:lstStyle/>
          <a:p>
            <a:pPr algn="just">
              <a:lnSpc>
                <a:spcPts val="2482"/>
              </a:lnSpc>
            </a:pPr>
            <a:r>
              <a:rPr lang="en-US" sz="1749">
                <a:solidFill>
                  <a:srgbClr val="000000"/>
                </a:solidFill>
                <a:latin typeface="Arial"/>
                <a:ea typeface="Arial"/>
                <a:cs typeface="Arial"/>
                <a:sym typeface="Arial"/>
              </a:rPr>
              <a:t>Step 3: </a:t>
            </a:r>
          </a:p>
        </p:txBody>
      </p:sp>
      <p:sp>
        <p:nvSpPr>
          <p:cNvPr name="TextBox 13" id="13"/>
          <p:cNvSpPr txBox="true"/>
          <p:nvPr/>
        </p:nvSpPr>
        <p:spPr>
          <a:xfrm rot="0">
            <a:off x="6721002" y="2988836"/>
            <a:ext cx="6758302" cy="322936"/>
          </a:xfrm>
          <a:prstGeom prst="rect">
            <a:avLst/>
          </a:prstGeom>
        </p:spPr>
        <p:txBody>
          <a:bodyPr anchor="t" rtlCol="false" tIns="0" lIns="0" bIns="0" rIns="0">
            <a:spAutoFit/>
          </a:bodyPr>
          <a:lstStyle/>
          <a:p>
            <a:pPr algn="just">
              <a:lnSpc>
                <a:spcPts val="2482"/>
              </a:lnSpc>
            </a:pPr>
            <a:r>
              <a:rPr lang="en-US" sz="1749">
                <a:solidFill>
                  <a:srgbClr val="000000"/>
                </a:solidFill>
                <a:latin typeface="Arial"/>
                <a:ea typeface="Arial"/>
                <a:cs typeface="Arial"/>
                <a:sym typeface="Arial"/>
              </a:rPr>
              <a:t>Step 2: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776010" y="219742"/>
            <a:ext cx="2435743" cy="811368"/>
            <a:chOff x="0" y="0"/>
            <a:chExt cx="3247657" cy="1081824"/>
          </a:xfrm>
        </p:grpSpPr>
        <p:sp>
          <p:nvSpPr>
            <p:cNvPr name="Freeform 3" id="3"/>
            <p:cNvSpPr/>
            <p:nvPr/>
          </p:nvSpPr>
          <p:spPr>
            <a:xfrm flipH="false" flipV="false" rot="0">
              <a:off x="0" y="0"/>
              <a:ext cx="3247644" cy="1081786"/>
            </a:xfrm>
            <a:custGeom>
              <a:avLst/>
              <a:gdLst/>
              <a:ahLst/>
              <a:cxnLst/>
              <a:rect r="r" b="b" t="t" l="l"/>
              <a:pathLst>
                <a:path h="1081786" w="3247644">
                  <a:moveTo>
                    <a:pt x="0" y="0"/>
                  </a:moveTo>
                  <a:lnTo>
                    <a:pt x="3247644" y="0"/>
                  </a:lnTo>
                  <a:lnTo>
                    <a:pt x="3247644" y="1081786"/>
                  </a:lnTo>
                  <a:lnTo>
                    <a:pt x="0" y="1081786"/>
                  </a:lnTo>
                  <a:lnTo>
                    <a:pt x="0" y="0"/>
                  </a:lnTo>
                  <a:close/>
                </a:path>
              </a:pathLst>
            </a:custGeom>
            <a:blipFill>
              <a:blip r:embed="rId2"/>
              <a:stretch>
                <a:fillRect l="-139" t="0" r="-139" b="-3"/>
              </a:stretch>
            </a:blipFill>
          </p:spPr>
        </p:sp>
      </p:grpSp>
      <p:pic>
        <p:nvPicPr>
          <p:cNvPr name="Picture 4" id="4">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3654" r="0" b="0"/>
          <a:stretch>
            <a:fillRect/>
          </a:stretch>
        </p:blipFill>
        <p:spPr>
          <a:xfrm flipH="false" flipV="false" rot="0">
            <a:off x="229029" y="1149553"/>
            <a:ext cx="14764993" cy="8890836"/>
          </a:xfrm>
          <a:prstGeom prst="rect">
            <a:avLst/>
          </a:prstGeom>
        </p:spPr>
      </p:pic>
      <p:sp>
        <p:nvSpPr>
          <p:cNvPr name="TextBox 5" id="5"/>
          <p:cNvSpPr txBox="true"/>
          <p:nvPr/>
        </p:nvSpPr>
        <p:spPr>
          <a:xfrm rot="0">
            <a:off x="229029" y="139903"/>
            <a:ext cx="9087377" cy="1009650"/>
          </a:xfrm>
          <a:prstGeom prst="rect">
            <a:avLst/>
          </a:prstGeom>
        </p:spPr>
        <p:txBody>
          <a:bodyPr anchor="t" rtlCol="false" tIns="0" lIns="0" bIns="0" rIns="0">
            <a:spAutoFit/>
          </a:bodyPr>
          <a:lstStyle/>
          <a:p>
            <a:pPr algn="l">
              <a:lnSpc>
                <a:spcPts val="7769"/>
              </a:lnSpc>
            </a:pPr>
            <a:r>
              <a:rPr lang="en-US" b="true" sz="6474" spc="-525">
                <a:solidFill>
                  <a:srgbClr val="F03C2E"/>
                </a:solidFill>
                <a:latin typeface="Arial Bold"/>
                <a:ea typeface="Arial Bold"/>
                <a:cs typeface="Arial Bold"/>
                <a:sym typeface="Arial Bold"/>
              </a:rPr>
              <a:t>Screencast Video</a:t>
            </a:r>
          </a:p>
        </p:txBody>
      </p:sp>
    </p:spTree>
  </p:cSld>
  <p:clrMapOvr>
    <a:masterClrMapping/>
  </p:clrMapOvr>
  <p:timing>
    <p:tnLst>
      <p:par>
        <p:cTn dur="indefinite" restart="never" nodeType="tmRoot">
          <p:childTnLst>
            <p:video>
              <p:cMediaNode vol="100000">
                <p:cTn fill="hold" display="false">
                  <p:stCondLst>
                    <p:cond delay="indefinite"/>
                  </p:stCondLst>
                </p:cTn>
                <p:tgtEl>
                  <p:spTgt spid="4"/>
                </p:tgtEl>
              </p:cMediaNode>
            </p:video>
          </p:childTnLst>
        </p:cTn>
      </p:par>
    </p:tnLst>
  </p:timing>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776010" y="219742"/>
            <a:ext cx="2435743" cy="811368"/>
            <a:chOff x="0" y="0"/>
            <a:chExt cx="3247657" cy="1081824"/>
          </a:xfrm>
        </p:grpSpPr>
        <p:sp>
          <p:nvSpPr>
            <p:cNvPr name="Freeform 3" id="3"/>
            <p:cNvSpPr/>
            <p:nvPr/>
          </p:nvSpPr>
          <p:spPr>
            <a:xfrm flipH="false" flipV="false" rot="0">
              <a:off x="0" y="0"/>
              <a:ext cx="3247644" cy="1081786"/>
            </a:xfrm>
            <a:custGeom>
              <a:avLst/>
              <a:gdLst/>
              <a:ahLst/>
              <a:cxnLst/>
              <a:rect r="r" b="b" t="t" l="l"/>
              <a:pathLst>
                <a:path h="1081786" w="3247644">
                  <a:moveTo>
                    <a:pt x="0" y="0"/>
                  </a:moveTo>
                  <a:lnTo>
                    <a:pt x="3247644" y="0"/>
                  </a:lnTo>
                  <a:lnTo>
                    <a:pt x="3247644" y="1081786"/>
                  </a:lnTo>
                  <a:lnTo>
                    <a:pt x="0" y="1081786"/>
                  </a:lnTo>
                  <a:lnTo>
                    <a:pt x="0" y="0"/>
                  </a:lnTo>
                  <a:close/>
                </a:path>
              </a:pathLst>
            </a:custGeom>
            <a:blipFill>
              <a:blip r:embed="rId2"/>
              <a:stretch>
                <a:fillRect l="-139" t="0" r="-139" b="-3"/>
              </a:stretch>
            </a:blipFill>
          </p:spPr>
        </p:sp>
      </p:grpSp>
      <p:grpSp>
        <p:nvGrpSpPr>
          <p:cNvPr name="Group 4" id="4"/>
          <p:cNvGrpSpPr/>
          <p:nvPr/>
        </p:nvGrpSpPr>
        <p:grpSpPr>
          <a:xfrm rot="0">
            <a:off x="15363825" y="8362950"/>
            <a:ext cx="2924175" cy="1924050"/>
            <a:chOff x="0" y="0"/>
            <a:chExt cx="3898900" cy="2565400"/>
          </a:xfrm>
        </p:grpSpPr>
        <p:sp>
          <p:nvSpPr>
            <p:cNvPr name="Freeform 5" id="5"/>
            <p:cNvSpPr/>
            <p:nvPr/>
          </p:nvSpPr>
          <p:spPr>
            <a:xfrm flipH="false" flipV="false" rot="0">
              <a:off x="0" y="0"/>
              <a:ext cx="3898900" cy="2565400"/>
            </a:xfrm>
            <a:custGeom>
              <a:avLst/>
              <a:gdLst/>
              <a:ahLst/>
              <a:cxnLst/>
              <a:rect r="r" b="b" t="t" l="l"/>
              <a:pathLst>
                <a:path h="2565400" w="3898900">
                  <a:moveTo>
                    <a:pt x="0" y="0"/>
                  </a:moveTo>
                  <a:lnTo>
                    <a:pt x="3898900" y="0"/>
                  </a:lnTo>
                  <a:lnTo>
                    <a:pt x="3898900" y="2565400"/>
                  </a:lnTo>
                  <a:lnTo>
                    <a:pt x="0" y="2565400"/>
                  </a:lnTo>
                  <a:lnTo>
                    <a:pt x="0" y="0"/>
                  </a:lnTo>
                  <a:close/>
                </a:path>
              </a:pathLst>
            </a:custGeom>
            <a:blipFill>
              <a:blip r:embed="rId3"/>
              <a:stretch>
                <a:fillRect l="-50" t="0" r="-50" b="0"/>
              </a:stretch>
            </a:blipFill>
          </p:spPr>
        </p:sp>
      </p:grpSp>
      <p:sp>
        <p:nvSpPr>
          <p:cNvPr name="TextBox 6" id="6"/>
          <p:cNvSpPr txBox="true"/>
          <p:nvPr/>
        </p:nvSpPr>
        <p:spPr>
          <a:xfrm rot="0">
            <a:off x="229029" y="139903"/>
            <a:ext cx="9087377" cy="1009650"/>
          </a:xfrm>
          <a:prstGeom prst="rect">
            <a:avLst/>
          </a:prstGeom>
        </p:spPr>
        <p:txBody>
          <a:bodyPr anchor="t" rtlCol="false" tIns="0" lIns="0" bIns="0" rIns="0">
            <a:spAutoFit/>
          </a:bodyPr>
          <a:lstStyle/>
          <a:p>
            <a:pPr algn="l">
              <a:lnSpc>
                <a:spcPts val="7769"/>
              </a:lnSpc>
            </a:pPr>
            <a:r>
              <a:rPr lang="en-US" b="true" sz="6474" spc="-525">
                <a:solidFill>
                  <a:srgbClr val="F03C2E"/>
                </a:solidFill>
                <a:latin typeface="Arial Bold"/>
                <a:ea typeface="Arial Bold"/>
                <a:cs typeface="Arial Bold"/>
                <a:sym typeface="Arial Bold"/>
              </a:rPr>
              <a:t>Summary</a:t>
            </a:r>
          </a:p>
        </p:txBody>
      </p:sp>
      <p:sp>
        <p:nvSpPr>
          <p:cNvPr name="TextBox 7" id="7"/>
          <p:cNvSpPr txBox="true"/>
          <p:nvPr/>
        </p:nvSpPr>
        <p:spPr>
          <a:xfrm rot="0">
            <a:off x="229029" y="1940911"/>
            <a:ext cx="17304689" cy="6670760"/>
          </a:xfrm>
          <a:prstGeom prst="rect">
            <a:avLst/>
          </a:prstGeom>
        </p:spPr>
        <p:txBody>
          <a:bodyPr anchor="t" rtlCol="false" tIns="0" lIns="0" bIns="0" rIns="0">
            <a:spAutoFit/>
          </a:bodyPr>
          <a:lstStyle/>
          <a:p>
            <a:pPr algn="just">
              <a:lnSpc>
                <a:spcPts val="2970"/>
              </a:lnSpc>
            </a:pPr>
            <a:r>
              <a:rPr lang="en-US" sz="2121">
                <a:solidFill>
                  <a:srgbClr val="362600"/>
                </a:solidFill>
                <a:latin typeface="Canva Sans"/>
                <a:ea typeface="Canva Sans"/>
                <a:cs typeface="Canva Sans"/>
                <a:sym typeface="Canva Sans"/>
              </a:rPr>
              <a:t>The Zerodha-like Trading </a:t>
            </a:r>
            <a:r>
              <a:rPr lang="en-US" sz="2121">
                <a:solidFill>
                  <a:srgbClr val="362600"/>
                </a:solidFill>
                <a:latin typeface="Canva Sans"/>
                <a:ea typeface="Canva Sans"/>
                <a:cs typeface="Canva Sans"/>
                <a:sym typeface="Canva Sans"/>
              </a:rPr>
              <a:t>Application is a full-stack web-based platform developed using the MERN stack (MongoDB, Express.js, React.js, and Node.js) to simulate a real-world online trading environment. The application is designed to provide users with a responsive, secure, and user-friendly interface for analyzing financial markets, managing investments, and executing trades efficiently. </a:t>
            </a:r>
          </a:p>
          <a:p>
            <a:pPr algn="just">
              <a:lnSpc>
                <a:spcPts val="2970"/>
              </a:lnSpc>
            </a:pPr>
          </a:p>
          <a:p>
            <a:pPr algn="just">
              <a:lnSpc>
                <a:spcPts val="2970"/>
              </a:lnSpc>
            </a:pPr>
            <a:r>
              <a:rPr lang="en-US" sz="2121">
                <a:solidFill>
                  <a:srgbClr val="362600"/>
                </a:solidFill>
                <a:latin typeface="Canva Sans"/>
                <a:ea typeface="Canva Sans"/>
                <a:cs typeface="Canva Sans"/>
                <a:sym typeface="Canva Sans"/>
              </a:rPr>
              <a:t>It follows a layered architecture where the React-based frontend handles user interaction and visualization, the Node.js and Express backend manages business logic and API communication, and MongoDB stores user data, portfolios, and transaction records. The platform includes key features such as real-time portfolio tracking, advanced charting for technical analysis, fast order execution, profit and loss monitoring, and detailed performance reports. </a:t>
            </a:r>
          </a:p>
          <a:p>
            <a:pPr algn="just">
              <a:lnSpc>
                <a:spcPts val="2970"/>
              </a:lnSpc>
            </a:pPr>
          </a:p>
          <a:p>
            <a:pPr algn="just">
              <a:lnSpc>
                <a:spcPts val="2970"/>
              </a:lnSpc>
            </a:pPr>
            <a:r>
              <a:rPr lang="en-US" sz="2121">
                <a:solidFill>
                  <a:srgbClr val="362600"/>
                </a:solidFill>
                <a:latin typeface="Canva Sans"/>
                <a:ea typeface="Canva Sans"/>
                <a:cs typeface="Canva Sans"/>
                <a:sym typeface="Canva Sans"/>
              </a:rPr>
              <a:t>Additionally, it offers fund management capabilities, price alerts, and integrated tools for enhanced analytics. The user interface is divided into essential modules, including a homepage for onboarding and education, a dashboard for real-time portfolio insights with graphical representations, and a support portal for user assistance and issue resolution. The application also incorporates testing using Jest and React Testing Library to ensure reliability and proper functionality of UI components and trading operations. </a:t>
            </a:r>
          </a:p>
          <a:p>
            <a:pPr algn="just">
              <a:lnSpc>
                <a:spcPts val="2970"/>
              </a:lnSpc>
            </a:pPr>
          </a:p>
          <a:p>
            <a:pPr algn="just">
              <a:lnSpc>
                <a:spcPts val="2970"/>
              </a:lnSpc>
            </a:pPr>
            <a:r>
              <a:rPr lang="en-US" sz="2121">
                <a:solidFill>
                  <a:srgbClr val="362600"/>
                </a:solidFill>
                <a:latin typeface="Canva Sans"/>
                <a:ea typeface="Canva Sans"/>
                <a:cs typeface="Canva Sans"/>
                <a:sym typeface="Canva Sans"/>
              </a:rPr>
              <a:t>Overall, this project demonstrates a realistic and scalable trading system, combining modern web technologies, clean architecture, and practical financial features, making it a strong representation of a professional trading platform suitable for both academic and portfolio purposes.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DAHGa7_KKp8</dc:identifier>
  <dcterms:modified xsi:type="dcterms:W3CDTF">2011-08-01T06:04:30Z</dcterms:modified>
  <cp:revision>1</cp:revision>
  <dc:title>Zubair P2 Trading WebSite</dc:title>
</cp:coreProperties>
</file>